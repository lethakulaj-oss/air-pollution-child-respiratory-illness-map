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PM2.5 (µg/m³)</c:v>
                </c:pt>
              </c:strCache>
            </c:strRef>
          </c:tx>
          <c:spPr>
            <a:solidFill>
              <a:srgbClr val="065A82"/>
            </a:solidFill>
            <a:effectLst/>
          </c:spPr>
          <c:invertIfNegative val="0"/>
          <c:dLbls>
            <c:numFmt formatCode="#,##0" sourceLinked="0"/>
            <c:txPr>
              <a:bodyPr/>
              <a:lstStyle/>
              <a:p>
                <a:pPr>
                  <a:defRPr b="0" i="0" strike="noStrike" sz="1100" u="none">
                    <a:solidFill>
                      <a:srgbClr val="0A2438"/>
                    </a:solidFill>
                    <a:latin typeface="Arial"/>
                  </a:defRPr>
                </a:pPr>
              </a:p>
            </c:txPr>
            <c:showLegendKey val="0"/>
            <c:showVal val="1"/>
            <c:showCatName val="0"/>
            <c:showSerName val="0"/>
            <c:showPercent val="0"/>
            <c:showBubbleSize val="0"/>
            <c:showLeaderLines val="0"/>
          </c:dLbls>
          <c:dPt>
            <c:idx val="0"/>
            <c:invertIfNegative val="0"/>
            <c:bubble3D val="0"/>
            <c:spPr>
              <a:solidFill>
                <a:srgbClr val="065A82"/>
              </a:solidFill>
              <a:effectLst/>
            </c:spPr>
          </c:dPt>
          <c:dPt>
            <c:idx val="1"/>
            <c:invertIfNegative val="0"/>
            <c:bubble3D val="0"/>
            <c:spPr>
              <a:solidFill>
                <a:srgbClr val="21C99A"/>
              </a:solidFill>
              <a:effectLst/>
            </c:spPr>
          </c:dPt>
          <c:dPt>
            <c:idx val="2"/>
            <c:invertIfNegative val="0"/>
            <c:bubble3D val="0"/>
            <c:spPr>
              <a:solidFill>
                <a:srgbClr val="1C7293"/>
              </a:solidFill>
              <a:effectLst/>
            </c:spPr>
          </c:dPt>
          <c:dPt>
            <c:idx val="3"/>
            <c:invertIfNegative val="0"/>
            <c:bubble3D val="0"/>
            <c:spPr>
              <a:solidFill>
                <a:srgbClr val="C0392B"/>
              </a:solidFill>
              <a:effectLst/>
            </c:spPr>
          </c:dPt>
          <c:cat>
            <c:multiLvlStrRef>
              <c:f>Sheet1!$A$2:$A$5</c:f>
              <c:multiLvlStrCache>
                <c:ptCount val="4"/>
                <c:lvl>
                  <c:pt idx="0">
                    <c:v>WHO Guideline</c:v>
                  </c:pt>
                  <c:pt idx="1">
                    <c:v>Karura
(reference site)</c:v>
                  </c:pt>
                  <c:pt idx="2">
                    <c:v>Nairobi
(city average)</c:v>
                  </c:pt>
                  <c:pt idx="3">
                    <c:v>Viwandani
(informal settlement)</c:v>
                  </c:pt>
                </c:lvl>
              </c:multiLvlStrCache>
            </c:multiLvlStrRef>
          </c:cat>
          <c:val>
            <c:numRef>
              <c:f>Sheet1!$B$2:$B$5</c:f>
              <c:numCache>
                <c:formatCode>General</c:formatCode>
                <c:ptCount val="4"/>
                <c:pt idx="0">
                  <c:v>5</c:v>
                </c:pt>
                <c:pt idx="1">
                  <c:v>21.25</c:v>
                </c:pt>
                <c:pt idx="2">
                  <c:v>17.97</c:v>
                </c:pt>
                <c:pt idx="3">
                  <c:v>111.87</c:v>
                </c:pt>
              </c:numCache>
            </c:numRef>
          </c:val>
        </c:ser>
        <c:dLbls>
          <c:numFmt formatCode="#,##0" sourceLinked="0"/>
          <c:txPr>
            <a:bodyPr/>
            <a:lstStyle/>
            <a:p>
              <a:pPr>
                <a:defRPr b="0" i="0" strike="noStrike" sz="1100" u="none">
                  <a:solidFill>
                    <a:srgbClr val="0A2438"/>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B7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9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778240" y="365760"/>
            <a:ext cx="2926080" cy="457200"/>
          </a:xfrm>
          <a:prstGeom prst="rect">
            <a:avLst/>
          </a:prstGeom>
          <a:noFill/>
          <a:ln/>
        </p:spPr>
        <p:txBody>
          <a:bodyPr wrap="square" rtlCol="0" anchor="ctr"/>
          <a:lstStyle/>
          <a:p>
            <a:pPr algn="r" indent="0" marL="0">
              <a:buNone/>
            </a:pPr>
            <a:r>
              <a:rPr lang="en-US" sz="1100" dirty="0">
                <a:solidFill>
                  <a:srgbClr val="9FB8C8"/>
                </a:solidFill>
                <a:latin typeface="Calibri" pitchFamily="34" charset="0"/>
                <a:ea typeface="Calibri" pitchFamily="34" charset="-122"/>
                <a:cs typeface="Calibri" pitchFamily="34" charset="-120"/>
              </a:rPr>
              <a:t>Northline Health Analytics</a:t>
            </a:r>
            <a:endParaRPr lang="en-US" sz="1100" dirty="0"/>
          </a:p>
        </p:txBody>
      </p:sp>
      <p:sp>
        <p:nvSpPr>
          <p:cNvPr id="3" name="Text 1"/>
          <p:cNvSpPr/>
          <p:nvPr/>
        </p:nvSpPr>
        <p:spPr>
          <a:xfrm>
            <a:off x="822960" y="1600200"/>
            <a:ext cx="9692640" cy="2834640"/>
          </a:xfrm>
          <a:prstGeom prst="rect">
            <a:avLst/>
          </a:prstGeom>
          <a:noFill/>
          <a:ln/>
        </p:spPr>
        <p:txBody>
          <a:bodyPr wrap="square" lIns="0" tIns="0" rIns="0" bIns="0" rtlCol="0" anchor="ctr"/>
          <a:lstStyle/>
          <a:p>
            <a:pPr indent="0" marL="0">
              <a:lnSpc>
                <a:spcPct val="108000"/>
              </a:lnSpc>
              <a:buNone/>
            </a:pPr>
            <a:r>
              <a:rPr lang="en-US" sz="4200" b="1" dirty="0">
                <a:solidFill>
                  <a:srgbClr val="FFFFFF"/>
                </a:solidFill>
                <a:latin typeface="Cambria" pitchFamily="34" charset="0"/>
                <a:ea typeface="Cambria" pitchFamily="34" charset="-122"/>
                <a:cs typeface="Cambria" pitchFamily="34" charset="-120"/>
              </a:rPr>
              <a:t>Air Pollution &amp;</a:t>
            </a:r>
            <a:endParaRPr lang="en-US" sz="4200" dirty="0"/>
          </a:p>
          <a:p>
            <a:pPr indent="0" marL="0">
              <a:lnSpc>
                <a:spcPct val="108000"/>
              </a:lnSpc>
              <a:buNone/>
            </a:pPr>
            <a:r>
              <a:rPr lang="en-US" sz="4200" b="1" dirty="0">
                <a:solidFill>
                  <a:srgbClr val="FFFFFF"/>
                </a:solidFill>
                <a:latin typeface="Cambria" pitchFamily="34" charset="0"/>
                <a:ea typeface="Cambria" pitchFamily="34" charset="-122"/>
                <a:cs typeface="Cambria" pitchFamily="34" charset="-120"/>
              </a:rPr>
              <a:t>Child Respiratory</a:t>
            </a:r>
            <a:endParaRPr lang="en-US" sz="4200" dirty="0"/>
          </a:p>
          <a:p>
            <a:pPr indent="0" marL="0">
              <a:lnSpc>
                <a:spcPct val="108000"/>
              </a:lnSpc>
              <a:buNone/>
            </a:pPr>
            <a:r>
              <a:rPr lang="en-US" sz="4200" b="1" dirty="0">
                <a:solidFill>
                  <a:srgbClr val="FFFFFF"/>
                </a:solidFill>
                <a:latin typeface="Cambria" pitchFamily="34" charset="0"/>
                <a:ea typeface="Cambria" pitchFamily="34" charset="-122"/>
                <a:cs typeface="Cambria" pitchFamily="34" charset="-120"/>
              </a:rPr>
              <a:t>Illness Map</a:t>
            </a:r>
            <a:endParaRPr lang="en-US" sz="4200" dirty="0"/>
          </a:p>
        </p:txBody>
      </p:sp>
      <p:sp>
        <p:nvSpPr>
          <p:cNvPr id="4" name="Text 2"/>
          <p:cNvSpPr/>
          <p:nvPr/>
        </p:nvSpPr>
        <p:spPr>
          <a:xfrm>
            <a:off x="841248" y="4800600"/>
            <a:ext cx="6400800" cy="822960"/>
          </a:xfrm>
          <a:prstGeom prst="rect">
            <a:avLst/>
          </a:prstGeom>
          <a:noFill/>
          <a:ln/>
        </p:spPr>
        <p:txBody>
          <a:bodyPr wrap="square" lIns="0" tIns="0" rIns="0" bIns="0" rtlCol="0" anchor="ctr"/>
          <a:lstStyle/>
          <a:p>
            <a:pPr indent="0" marL="0">
              <a:buNone/>
            </a:pPr>
            <a:r>
              <a:rPr lang="en-US" sz="1800" dirty="0">
                <a:solidFill>
                  <a:srgbClr val="BFD9E8"/>
                </a:solidFill>
                <a:latin typeface="Calibri" pitchFamily="34" charset="0"/>
                <a:ea typeface="Calibri" pitchFamily="34" charset="-122"/>
                <a:cs typeface="Calibri" pitchFamily="34" charset="-120"/>
              </a:rPr>
              <a:t>Mapping Child Exposure to Air Pollution</a:t>
            </a:r>
            <a:endParaRPr lang="en-US" sz="1800" dirty="0"/>
          </a:p>
          <a:p>
            <a:pPr indent="0" marL="0">
              <a:buNone/>
            </a:pPr>
            <a:r>
              <a:rPr lang="en-US" sz="1800" dirty="0">
                <a:solidFill>
                  <a:srgbClr val="BFD9E8"/>
                </a:solidFill>
                <a:latin typeface="Calibri" pitchFamily="34" charset="0"/>
                <a:ea typeface="Calibri" pitchFamily="34" charset="-122"/>
                <a:cs typeface="Calibri" pitchFamily="34" charset="-120"/>
              </a:rPr>
              <a:t>in Kenya's Informal Settlements</a:t>
            </a:r>
            <a:endParaRPr lang="en-US" sz="1800" dirty="0"/>
          </a:p>
        </p:txBody>
      </p:sp>
      <p:sp>
        <p:nvSpPr>
          <p:cNvPr id="5" name="Shape 3"/>
          <p:cNvSpPr/>
          <p:nvPr/>
        </p:nvSpPr>
        <p:spPr>
          <a:xfrm>
            <a:off x="841248" y="5989320"/>
            <a:ext cx="457200" cy="36576"/>
          </a:xfrm>
          <a:prstGeom prst="rect">
            <a:avLst/>
          </a:prstGeom>
          <a:solidFill>
            <a:srgbClr val="21C99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4572000" cy="365760"/>
          </a:xfrm>
          <a:prstGeom prst="rect">
            <a:avLst/>
          </a:prstGeom>
          <a:noFill/>
          <a:ln/>
        </p:spPr>
        <p:txBody>
          <a:bodyPr wrap="square"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The Question</a:t>
            </a:r>
            <a:endParaRPr lang="en-US" sz="1300" dirty="0"/>
          </a:p>
        </p:txBody>
      </p:sp>
      <p:sp>
        <p:nvSpPr>
          <p:cNvPr id="3" name="Text 1"/>
          <p:cNvSpPr/>
          <p:nvPr/>
        </p:nvSpPr>
        <p:spPr>
          <a:xfrm>
            <a:off x="548640" y="914400"/>
            <a:ext cx="6035040" cy="2377440"/>
          </a:xfrm>
          <a:prstGeom prst="rect">
            <a:avLst/>
          </a:prstGeom>
          <a:noFill/>
          <a:ln/>
        </p:spPr>
        <p:txBody>
          <a:bodyPr wrap="square" rtlCol="0" anchor="ctr"/>
          <a:lstStyle/>
          <a:p>
            <a:pPr indent="0" marL="0">
              <a:lnSpc>
                <a:spcPct val="108000"/>
              </a:lnSpc>
              <a:buNone/>
            </a:pPr>
            <a:r>
              <a:rPr lang="en-US" sz="3400" b="1" dirty="0">
                <a:solidFill>
                  <a:srgbClr val="0A2438"/>
                </a:solidFill>
                <a:latin typeface="Cambria" pitchFamily="34" charset="0"/>
                <a:ea typeface="Cambria" pitchFamily="34" charset="-122"/>
                <a:cs typeface="Cambria" pitchFamily="34" charset="-120"/>
              </a:rPr>
              <a:t>Which neighborhoods carry</a:t>
            </a:r>
            <a:endParaRPr lang="en-US" sz="3400" dirty="0"/>
          </a:p>
          <a:p>
            <a:pPr indent="0" marL="0">
              <a:lnSpc>
                <a:spcPct val="108000"/>
              </a:lnSpc>
              <a:buNone/>
            </a:pPr>
            <a:r>
              <a:rPr lang="en-US" sz="3400" b="1" dirty="0">
                <a:solidFill>
                  <a:srgbClr val="0A2438"/>
                </a:solidFill>
                <a:latin typeface="Cambria" pitchFamily="34" charset="0"/>
                <a:ea typeface="Cambria" pitchFamily="34" charset="-122"/>
                <a:cs typeface="Cambria" pitchFamily="34" charset="-120"/>
              </a:rPr>
              <a:t>the highest child health risk</a:t>
            </a:r>
            <a:endParaRPr lang="en-US" sz="3400" dirty="0"/>
          </a:p>
          <a:p>
            <a:pPr indent="0" marL="0">
              <a:lnSpc>
                <a:spcPct val="108000"/>
              </a:lnSpc>
              <a:buNone/>
            </a:pPr>
            <a:r>
              <a:rPr lang="en-US" sz="3400" b="1" dirty="0">
                <a:solidFill>
                  <a:srgbClr val="0A2438"/>
                </a:solidFill>
                <a:latin typeface="Cambria" pitchFamily="34" charset="0"/>
                <a:ea typeface="Cambria" pitchFamily="34" charset="-122"/>
                <a:cs typeface="Cambria" pitchFamily="34" charset="-120"/>
              </a:rPr>
              <a:t>from air pollution?</a:t>
            </a:r>
            <a:endParaRPr lang="en-US" sz="3400" dirty="0"/>
          </a:p>
        </p:txBody>
      </p:sp>
      <p:sp>
        <p:nvSpPr>
          <p:cNvPr id="4" name="Text 2"/>
          <p:cNvSpPr/>
          <p:nvPr/>
        </p:nvSpPr>
        <p:spPr>
          <a:xfrm>
            <a:off x="548640" y="3657600"/>
            <a:ext cx="5760720" cy="1554480"/>
          </a:xfrm>
          <a:prstGeom prst="rect">
            <a:avLst/>
          </a:prstGeom>
          <a:noFill/>
          <a:ln/>
        </p:spPr>
        <p:txBody>
          <a:bodyPr wrap="square" rtlCol="0" anchor="ctr"/>
          <a:lstStyle/>
          <a:p>
            <a:pPr indent="0" marL="0">
              <a:lnSpc>
                <a:spcPct val="130000"/>
              </a:lnSpc>
              <a:buNone/>
            </a:pPr>
            <a:r>
              <a:rPr lang="en-US" sz="1350" dirty="0">
                <a:solidFill>
                  <a:srgbClr val="5B6B76"/>
                </a:solidFill>
                <a:latin typeface="Calibri" pitchFamily="34" charset="0"/>
                <a:ea typeface="Calibri" pitchFamily="34" charset="-122"/>
                <a:cs typeface="Calibri" pitchFamily="34" charset="-120"/>
              </a:rPr>
              <a:t>Air quality monitors sit in wealthy, visible parts of cities — rarely in the informal settlements next to highways and industrial zones where children are most exposed. This project combines satellite pollution data with population and health data to find those places, without waiting for physical sensors to be built.</a:t>
            </a:r>
            <a:endParaRPr lang="en-US" sz="1350" dirty="0"/>
          </a:p>
        </p:txBody>
      </p:sp>
      <p:sp>
        <p:nvSpPr>
          <p:cNvPr id="5" name="Shape 3"/>
          <p:cNvSpPr/>
          <p:nvPr/>
        </p:nvSpPr>
        <p:spPr>
          <a:xfrm>
            <a:off x="6903720" y="914400"/>
            <a:ext cx="4709160" cy="1417320"/>
          </a:xfrm>
          <a:prstGeom prst="roundRect">
            <a:avLst>
              <a:gd name="adj" fmla="val 5161"/>
            </a:avLst>
          </a:prstGeom>
          <a:solidFill>
            <a:srgbClr val="F4F7F9"/>
          </a:solidFill>
          <a:ln/>
        </p:spPr>
      </p:sp>
      <p:sp>
        <p:nvSpPr>
          <p:cNvPr id="6" name="Text 4"/>
          <p:cNvSpPr/>
          <p:nvPr/>
        </p:nvSpPr>
        <p:spPr>
          <a:xfrm>
            <a:off x="7178040" y="1078992"/>
            <a:ext cx="1828800" cy="1097280"/>
          </a:xfrm>
          <a:prstGeom prst="rect">
            <a:avLst/>
          </a:prstGeom>
          <a:noFill/>
          <a:ln/>
        </p:spPr>
        <p:txBody>
          <a:bodyPr wrap="square" lIns="0" tIns="0" rIns="0" bIns="0" rtlCol="0" anchor="t"/>
          <a:lstStyle/>
          <a:p>
            <a:pPr indent="0" marL="0">
              <a:buNone/>
            </a:pPr>
            <a:r>
              <a:rPr lang="en-US" sz="3000" b="1" dirty="0">
                <a:solidFill>
                  <a:srgbClr val="065A82"/>
                </a:solidFill>
                <a:latin typeface="Cambria" pitchFamily="34" charset="0"/>
                <a:ea typeface="Cambria" pitchFamily="34" charset="-122"/>
                <a:cs typeface="Cambria" pitchFamily="34" charset="-120"/>
              </a:rPr>
              <a:t>100%</a:t>
            </a:r>
            <a:endParaRPr lang="en-US" sz="3000" dirty="0"/>
          </a:p>
        </p:txBody>
      </p:sp>
      <p:sp>
        <p:nvSpPr>
          <p:cNvPr id="7" name="Text 5"/>
          <p:cNvSpPr/>
          <p:nvPr/>
        </p:nvSpPr>
        <p:spPr>
          <a:xfrm>
            <a:off x="9052560" y="1170432"/>
            <a:ext cx="2423160" cy="1005840"/>
          </a:xfrm>
          <a:prstGeom prst="rect">
            <a:avLst/>
          </a:prstGeom>
          <a:noFill/>
          <a:ln/>
        </p:spPr>
        <p:txBody>
          <a:bodyPr wrap="square" lIns="0" tIns="0" rIns="0" bIns="0" rtlCol="0" anchor="t"/>
          <a:lstStyle/>
          <a:p>
            <a:pPr indent="0" marL="0">
              <a:lnSpc>
                <a:spcPct val="120000"/>
              </a:lnSpc>
              <a:buNone/>
            </a:pPr>
            <a:r>
              <a:rPr lang="en-US" sz="1150" dirty="0">
                <a:solidFill>
                  <a:srgbClr val="5B6B76"/>
                </a:solidFill>
                <a:latin typeface="Calibri" pitchFamily="34" charset="0"/>
                <a:ea typeface="Calibri" pitchFamily="34" charset="-122"/>
                <a:cs typeface="Calibri" pitchFamily="34" charset="-120"/>
              </a:rPr>
              <a:t>of Kenya's population lives above</a:t>
            </a:r>
            <a:endParaRPr lang="en-US" sz="1150" dirty="0"/>
          </a:p>
          <a:p>
            <a:pPr indent="0" marL="0">
              <a:lnSpc>
                <a:spcPct val="120000"/>
              </a:lnSpc>
              <a:buNone/>
            </a:pPr>
            <a:r>
              <a:rPr lang="en-US" sz="1150" dirty="0">
                <a:solidFill>
                  <a:srgbClr val="5B6B76"/>
                </a:solidFill>
                <a:latin typeface="Calibri" pitchFamily="34" charset="0"/>
                <a:ea typeface="Calibri" pitchFamily="34" charset="-122"/>
                <a:cs typeface="Calibri" pitchFamily="34" charset="-120"/>
              </a:rPr>
              <a:t>the WHO PM2.5 safety guideline</a:t>
            </a:r>
            <a:endParaRPr lang="en-US" sz="1150" dirty="0"/>
          </a:p>
        </p:txBody>
      </p:sp>
      <p:sp>
        <p:nvSpPr>
          <p:cNvPr id="8" name="Shape 6"/>
          <p:cNvSpPr/>
          <p:nvPr/>
        </p:nvSpPr>
        <p:spPr>
          <a:xfrm>
            <a:off x="6903720" y="2606040"/>
            <a:ext cx="4709160" cy="1417320"/>
          </a:xfrm>
          <a:prstGeom prst="roundRect">
            <a:avLst>
              <a:gd name="adj" fmla="val 5161"/>
            </a:avLst>
          </a:prstGeom>
          <a:solidFill>
            <a:srgbClr val="F4F7F9"/>
          </a:solidFill>
          <a:ln/>
        </p:spPr>
      </p:sp>
      <p:sp>
        <p:nvSpPr>
          <p:cNvPr id="9" name="Text 7"/>
          <p:cNvSpPr/>
          <p:nvPr/>
        </p:nvSpPr>
        <p:spPr>
          <a:xfrm>
            <a:off x="7178040" y="2770632"/>
            <a:ext cx="1828800" cy="1097280"/>
          </a:xfrm>
          <a:prstGeom prst="rect">
            <a:avLst/>
          </a:prstGeom>
          <a:noFill/>
          <a:ln/>
        </p:spPr>
        <p:txBody>
          <a:bodyPr wrap="square" lIns="0" tIns="0" rIns="0" bIns="0" rtlCol="0" anchor="t"/>
          <a:lstStyle/>
          <a:p>
            <a:pPr indent="0" marL="0">
              <a:buNone/>
            </a:pPr>
            <a:r>
              <a:rPr lang="en-US" sz="3000" b="1" dirty="0">
                <a:solidFill>
                  <a:srgbClr val="065A82"/>
                </a:solidFill>
                <a:latin typeface="Cambria" pitchFamily="34" charset="0"/>
                <a:ea typeface="Cambria" pitchFamily="34" charset="-122"/>
                <a:cs typeface="Cambria" pitchFamily="34" charset="-120"/>
              </a:rPr>
              <a:t>7.6M</a:t>
            </a:r>
            <a:endParaRPr lang="en-US" sz="3000" dirty="0"/>
          </a:p>
        </p:txBody>
      </p:sp>
      <p:sp>
        <p:nvSpPr>
          <p:cNvPr id="10" name="Text 8"/>
          <p:cNvSpPr/>
          <p:nvPr/>
        </p:nvSpPr>
        <p:spPr>
          <a:xfrm>
            <a:off x="9052560" y="2862072"/>
            <a:ext cx="2423160" cy="1005840"/>
          </a:xfrm>
          <a:prstGeom prst="rect">
            <a:avLst/>
          </a:prstGeom>
          <a:noFill/>
          <a:ln/>
        </p:spPr>
        <p:txBody>
          <a:bodyPr wrap="square" lIns="0" tIns="0" rIns="0" bIns="0" rtlCol="0" anchor="t"/>
          <a:lstStyle/>
          <a:p>
            <a:pPr indent="0" marL="0">
              <a:lnSpc>
                <a:spcPct val="120000"/>
              </a:lnSpc>
              <a:buNone/>
            </a:pPr>
            <a:r>
              <a:rPr lang="en-US" sz="1150" dirty="0">
                <a:solidFill>
                  <a:srgbClr val="5B6B76"/>
                </a:solidFill>
                <a:latin typeface="Calibri" pitchFamily="34" charset="0"/>
                <a:ea typeface="Calibri" pitchFamily="34" charset="-122"/>
                <a:cs typeface="Calibri" pitchFamily="34" charset="-120"/>
              </a:rPr>
              <a:t>children under 5 in Kenya</a:t>
            </a:r>
            <a:endParaRPr lang="en-US" sz="1150" dirty="0"/>
          </a:p>
          <a:p>
            <a:pPr indent="0" marL="0">
              <a:lnSpc>
                <a:spcPct val="120000"/>
              </a:lnSpc>
              <a:buNone/>
            </a:pPr>
            <a:r>
              <a:rPr lang="en-US" sz="1150" dirty="0">
                <a:solidFill>
                  <a:srgbClr val="5B6B76"/>
                </a:solidFill>
                <a:latin typeface="Calibri" pitchFamily="34" charset="0"/>
                <a:ea typeface="Calibri" pitchFamily="34" charset="-122"/>
                <a:cs typeface="Calibri" pitchFamily="34" charset="-120"/>
              </a:rPr>
              <a:t>(WorldPop, 2020)</a:t>
            </a:r>
            <a:endParaRPr lang="en-US" sz="1150" dirty="0"/>
          </a:p>
        </p:txBody>
      </p:sp>
      <p:sp>
        <p:nvSpPr>
          <p:cNvPr id="11" name="Shape 9"/>
          <p:cNvSpPr/>
          <p:nvPr/>
        </p:nvSpPr>
        <p:spPr>
          <a:xfrm>
            <a:off x="6903720" y="4297680"/>
            <a:ext cx="4709160" cy="1417320"/>
          </a:xfrm>
          <a:prstGeom prst="roundRect">
            <a:avLst>
              <a:gd name="adj" fmla="val 5161"/>
            </a:avLst>
          </a:prstGeom>
          <a:solidFill>
            <a:srgbClr val="F4F7F9"/>
          </a:solidFill>
          <a:ln/>
        </p:spPr>
      </p:sp>
      <p:sp>
        <p:nvSpPr>
          <p:cNvPr id="12" name="Text 10"/>
          <p:cNvSpPr/>
          <p:nvPr/>
        </p:nvSpPr>
        <p:spPr>
          <a:xfrm>
            <a:off x="7178040" y="4462272"/>
            <a:ext cx="1828800" cy="1097280"/>
          </a:xfrm>
          <a:prstGeom prst="rect">
            <a:avLst/>
          </a:prstGeom>
          <a:noFill/>
          <a:ln/>
        </p:spPr>
        <p:txBody>
          <a:bodyPr wrap="square" lIns="0" tIns="0" rIns="0" bIns="0" rtlCol="0" anchor="t"/>
          <a:lstStyle/>
          <a:p>
            <a:pPr indent="0" marL="0">
              <a:buNone/>
            </a:pPr>
            <a:r>
              <a:rPr lang="en-US" sz="3000" b="1" dirty="0">
                <a:solidFill>
                  <a:srgbClr val="065A82"/>
                </a:solidFill>
                <a:latin typeface="Cambria" pitchFamily="34" charset="0"/>
                <a:ea typeface="Cambria" pitchFamily="34" charset="-122"/>
                <a:cs typeface="Cambria" pitchFamily="34" charset="-120"/>
              </a:rPr>
              <a:t>111.87</a:t>
            </a:r>
            <a:endParaRPr lang="en-US" sz="3000" dirty="0"/>
          </a:p>
        </p:txBody>
      </p:sp>
      <p:sp>
        <p:nvSpPr>
          <p:cNvPr id="13" name="Text 11"/>
          <p:cNvSpPr/>
          <p:nvPr/>
        </p:nvSpPr>
        <p:spPr>
          <a:xfrm>
            <a:off x="9052560" y="4553712"/>
            <a:ext cx="2423160" cy="1005840"/>
          </a:xfrm>
          <a:prstGeom prst="rect">
            <a:avLst/>
          </a:prstGeom>
          <a:noFill/>
          <a:ln/>
        </p:spPr>
        <p:txBody>
          <a:bodyPr wrap="square" lIns="0" tIns="0" rIns="0" bIns="0" rtlCol="0" anchor="t"/>
          <a:lstStyle/>
          <a:p>
            <a:pPr indent="0" marL="0">
              <a:lnSpc>
                <a:spcPct val="120000"/>
              </a:lnSpc>
              <a:buNone/>
            </a:pPr>
            <a:r>
              <a:rPr lang="en-US" sz="1150" dirty="0">
                <a:solidFill>
                  <a:srgbClr val="5B6B76"/>
                </a:solidFill>
                <a:latin typeface="Calibri" pitchFamily="34" charset="0"/>
                <a:ea typeface="Calibri" pitchFamily="34" charset="-122"/>
                <a:cs typeface="Calibri" pitchFamily="34" charset="-120"/>
              </a:rPr>
              <a:t>µg/m³ peak PM2.5 in Viwandani,</a:t>
            </a:r>
            <a:endParaRPr lang="en-US" sz="1150" dirty="0"/>
          </a:p>
          <a:p>
            <a:pPr indent="0" marL="0">
              <a:lnSpc>
                <a:spcPct val="120000"/>
              </a:lnSpc>
              <a:buNone/>
            </a:pPr>
            <a:r>
              <a:rPr lang="en-US" sz="1150" dirty="0">
                <a:solidFill>
                  <a:srgbClr val="5B6B76"/>
                </a:solidFill>
                <a:latin typeface="Calibri" pitchFamily="34" charset="0"/>
                <a:ea typeface="Calibri" pitchFamily="34" charset="-122"/>
                <a:cs typeface="Calibri" pitchFamily="34" charset="-120"/>
              </a:rPr>
              <a:t>an industrial informal settlement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5486400" cy="914400"/>
          </a:xfrm>
          <a:prstGeom prst="rect">
            <a:avLst/>
          </a:prstGeom>
          <a:noFill/>
          <a:ln/>
        </p:spPr>
        <p:txBody>
          <a:bodyPr wrap="square" rtlCol="0" anchor="ctr"/>
          <a:lstStyle/>
          <a:p>
            <a:pPr indent="0" marL="0">
              <a:buNone/>
            </a:pPr>
            <a:r>
              <a:rPr lang="en-US" sz="3200" b="1" dirty="0">
                <a:solidFill>
                  <a:srgbClr val="0A2438"/>
                </a:solidFill>
                <a:latin typeface="Cambria" pitchFamily="34" charset="0"/>
                <a:ea typeface="Cambria" pitchFamily="34" charset="-122"/>
                <a:cs typeface="Cambria" pitchFamily="34" charset="-120"/>
              </a:rPr>
              <a:t>The Three Datasets</a:t>
            </a:r>
            <a:endParaRPr lang="en-US" sz="3200" dirty="0"/>
          </a:p>
        </p:txBody>
      </p:sp>
      <p:sp>
        <p:nvSpPr>
          <p:cNvPr id="3" name="Text 1"/>
          <p:cNvSpPr/>
          <p:nvPr/>
        </p:nvSpPr>
        <p:spPr>
          <a:xfrm>
            <a:off x="548640" y="1371600"/>
            <a:ext cx="4937760" cy="1097280"/>
          </a:xfrm>
          <a:prstGeom prst="rect">
            <a:avLst/>
          </a:prstGeom>
          <a:noFill/>
          <a:ln/>
        </p:spPr>
        <p:txBody>
          <a:bodyPr wrap="square" rtlCol="0" anchor="ctr"/>
          <a:lstStyle/>
          <a:p>
            <a:pPr indent="0" marL="0">
              <a:lnSpc>
                <a:spcPct val="130000"/>
              </a:lnSpc>
              <a:buNone/>
            </a:pPr>
            <a:r>
              <a:rPr lang="en-US" sz="1300" dirty="0">
                <a:solidFill>
                  <a:srgbClr val="5B6B76"/>
                </a:solidFill>
                <a:latin typeface="Calibri" pitchFamily="34" charset="0"/>
                <a:ea typeface="Calibri" pitchFamily="34" charset="-122"/>
                <a:cs typeface="Calibri" pitchFamily="34" charset="-120"/>
              </a:rPr>
              <a:t>Health outcomes, pollution levels, and population — combined to find risk that no single dataset shows alone.</a:t>
            </a:r>
            <a:endParaRPr lang="en-US" sz="1300" dirty="0"/>
          </a:p>
        </p:txBody>
      </p:sp>
      <p:sp>
        <p:nvSpPr>
          <p:cNvPr id="4" name="Shape 2"/>
          <p:cNvSpPr/>
          <p:nvPr/>
        </p:nvSpPr>
        <p:spPr>
          <a:xfrm>
            <a:off x="5989320" y="548640"/>
            <a:ext cx="2606040" cy="1600200"/>
          </a:xfrm>
          <a:prstGeom prst="roundRect">
            <a:avLst>
              <a:gd name="adj" fmla="val 4571"/>
            </a:avLst>
          </a:prstGeom>
          <a:solidFill>
            <a:srgbClr val="0A2438"/>
          </a:solidFill>
          <a:ln/>
        </p:spPr>
      </p:sp>
      <p:sp>
        <p:nvSpPr>
          <p:cNvPr id="5" name="Text 3"/>
          <p:cNvSpPr/>
          <p:nvPr/>
        </p:nvSpPr>
        <p:spPr>
          <a:xfrm>
            <a:off x="6172200" y="713232"/>
            <a:ext cx="2240280" cy="6400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17.97</a:t>
            </a:r>
            <a:endParaRPr lang="en-US" sz="2600" dirty="0"/>
          </a:p>
        </p:txBody>
      </p:sp>
      <p:sp>
        <p:nvSpPr>
          <p:cNvPr id="6" name="Text 4"/>
          <p:cNvSpPr/>
          <p:nvPr/>
        </p:nvSpPr>
        <p:spPr>
          <a:xfrm>
            <a:off x="6172200" y="1371600"/>
            <a:ext cx="224028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µg/m³ avg PM2.5</a:t>
            </a:r>
            <a:endParaRPr lang="en-US" sz="1250" dirty="0"/>
          </a:p>
        </p:txBody>
      </p:sp>
      <p:sp>
        <p:nvSpPr>
          <p:cNvPr id="7" name="Text 5"/>
          <p:cNvSpPr/>
          <p:nvPr/>
        </p:nvSpPr>
        <p:spPr>
          <a:xfrm>
            <a:off x="6172200" y="1691640"/>
            <a:ext cx="2240280" cy="365760"/>
          </a:xfrm>
          <a:prstGeom prst="rect">
            <a:avLst/>
          </a:prstGeom>
          <a:noFill/>
          <a:ln/>
        </p:spPr>
        <p:txBody>
          <a:bodyPr wrap="square" lIns="0" tIns="0" rIns="0" bIns="0" rtlCol="0" anchor="ctr"/>
          <a:lstStyle/>
          <a:p>
            <a:pPr indent="0" marL="0">
              <a:buNone/>
            </a:pPr>
            <a:r>
              <a:rPr lang="en-US" sz="950" dirty="0">
                <a:solidFill>
                  <a:srgbClr val="FFFFFF">
                    <a:alpha val="85000"/>
                  </a:srgbClr>
                </a:solidFill>
                <a:latin typeface="Calibri" pitchFamily="34" charset="0"/>
                <a:ea typeface="Calibri" pitchFamily="34" charset="-122"/>
                <a:cs typeface="Calibri" pitchFamily="34" charset="-120"/>
              </a:rPr>
              <a:t>SEDAC / satellite, 2020</a:t>
            </a:r>
            <a:endParaRPr lang="en-US" sz="950" dirty="0"/>
          </a:p>
        </p:txBody>
      </p:sp>
      <p:sp>
        <p:nvSpPr>
          <p:cNvPr id="8" name="Shape 6"/>
          <p:cNvSpPr/>
          <p:nvPr/>
        </p:nvSpPr>
        <p:spPr>
          <a:xfrm>
            <a:off x="8823960" y="548640"/>
            <a:ext cx="2606040" cy="1600200"/>
          </a:xfrm>
          <a:prstGeom prst="roundRect">
            <a:avLst>
              <a:gd name="adj" fmla="val 4571"/>
            </a:avLst>
          </a:prstGeom>
          <a:solidFill>
            <a:srgbClr val="065A82"/>
          </a:solidFill>
          <a:ln/>
        </p:spPr>
      </p:sp>
      <p:sp>
        <p:nvSpPr>
          <p:cNvPr id="9" name="Text 7"/>
          <p:cNvSpPr/>
          <p:nvPr/>
        </p:nvSpPr>
        <p:spPr>
          <a:xfrm>
            <a:off x="9006840" y="713232"/>
            <a:ext cx="2240280" cy="6400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7.65M</a:t>
            </a:r>
            <a:endParaRPr lang="en-US" sz="2600" dirty="0"/>
          </a:p>
        </p:txBody>
      </p:sp>
      <p:sp>
        <p:nvSpPr>
          <p:cNvPr id="10" name="Text 8"/>
          <p:cNvSpPr/>
          <p:nvPr/>
        </p:nvSpPr>
        <p:spPr>
          <a:xfrm>
            <a:off x="9006840" y="1371600"/>
            <a:ext cx="224028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children under 5</a:t>
            </a:r>
            <a:endParaRPr lang="en-US" sz="1250" dirty="0"/>
          </a:p>
        </p:txBody>
      </p:sp>
      <p:sp>
        <p:nvSpPr>
          <p:cNvPr id="11" name="Text 9"/>
          <p:cNvSpPr/>
          <p:nvPr/>
        </p:nvSpPr>
        <p:spPr>
          <a:xfrm>
            <a:off x="9006840" y="1691640"/>
            <a:ext cx="2240280" cy="365760"/>
          </a:xfrm>
          <a:prstGeom prst="rect">
            <a:avLst/>
          </a:prstGeom>
          <a:noFill/>
          <a:ln/>
        </p:spPr>
        <p:txBody>
          <a:bodyPr wrap="square" lIns="0" tIns="0" rIns="0" bIns="0" rtlCol="0" anchor="ctr"/>
          <a:lstStyle/>
          <a:p>
            <a:pPr indent="0" marL="0">
              <a:buNone/>
            </a:pPr>
            <a:r>
              <a:rPr lang="en-US" sz="950" dirty="0">
                <a:solidFill>
                  <a:srgbClr val="FFFFFF">
                    <a:alpha val="85000"/>
                  </a:srgbClr>
                </a:solidFill>
                <a:latin typeface="Calibri" pitchFamily="34" charset="0"/>
                <a:ea typeface="Calibri" pitchFamily="34" charset="-122"/>
                <a:cs typeface="Calibri" pitchFamily="34" charset="-120"/>
              </a:rPr>
              <a:t>WorldPop, constrained 100m</a:t>
            </a:r>
            <a:endParaRPr lang="en-US" sz="950" dirty="0"/>
          </a:p>
        </p:txBody>
      </p:sp>
      <p:sp>
        <p:nvSpPr>
          <p:cNvPr id="12" name="Shape 10"/>
          <p:cNvSpPr/>
          <p:nvPr/>
        </p:nvSpPr>
        <p:spPr>
          <a:xfrm>
            <a:off x="5989320" y="2331720"/>
            <a:ext cx="2606040" cy="1600200"/>
          </a:xfrm>
          <a:prstGeom prst="roundRect">
            <a:avLst>
              <a:gd name="adj" fmla="val 4571"/>
            </a:avLst>
          </a:prstGeom>
          <a:solidFill>
            <a:srgbClr val="8FA9B5"/>
          </a:solidFill>
          <a:ln/>
        </p:spPr>
      </p:sp>
      <p:sp>
        <p:nvSpPr>
          <p:cNvPr id="13" name="Text 11"/>
          <p:cNvSpPr/>
          <p:nvPr/>
        </p:nvSpPr>
        <p:spPr>
          <a:xfrm>
            <a:off x="6172200" y="2496312"/>
            <a:ext cx="2240280" cy="640080"/>
          </a:xfrm>
          <a:prstGeom prst="rect">
            <a:avLst/>
          </a:prstGeom>
          <a:noFill/>
          <a:ln/>
        </p:spPr>
        <p:txBody>
          <a:bodyPr wrap="square" lIns="0" tIns="0" rIns="0" bIns="0" rtlCol="0" anchor="ctr"/>
          <a:lstStyle/>
          <a:p>
            <a:pPr indent="0" marL="0">
              <a:buNone/>
            </a:pPr>
            <a:r>
              <a:rPr lang="en-US" sz="2600" b="1" dirty="0">
                <a:solidFill>
                  <a:srgbClr val="0A2438"/>
                </a:solidFill>
                <a:latin typeface="Cambria" pitchFamily="34" charset="0"/>
                <a:ea typeface="Cambria" pitchFamily="34" charset="-122"/>
                <a:cs typeface="Cambria" pitchFamily="34" charset="-120"/>
              </a:rPr>
              <a:t>14,858</a:t>
            </a:r>
            <a:endParaRPr lang="en-US" sz="2600" dirty="0"/>
          </a:p>
        </p:txBody>
      </p:sp>
      <p:sp>
        <p:nvSpPr>
          <p:cNvPr id="14" name="Text 12"/>
          <p:cNvSpPr/>
          <p:nvPr/>
        </p:nvSpPr>
        <p:spPr>
          <a:xfrm>
            <a:off x="6172200" y="3154680"/>
            <a:ext cx="2240280" cy="320040"/>
          </a:xfrm>
          <a:prstGeom prst="rect">
            <a:avLst/>
          </a:prstGeom>
          <a:noFill/>
          <a:ln/>
        </p:spPr>
        <p:txBody>
          <a:bodyPr wrap="square" lIns="0" tIns="0" rIns="0" bIns="0" rtlCol="0" anchor="ctr"/>
          <a:lstStyle/>
          <a:p>
            <a:pPr indent="0" marL="0">
              <a:buNone/>
            </a:pPr>
            <a:r>
              <a:rPr lang="en-US" sz="1250" b="1" dirty="0">
                <a:solidFill>
                  <a:srgbClr val="0A2438"/>
                </a:solidFill>
                <a:latin typeface="Calibri" pitchFamily="34" charset="0"/>
                <a:ea typeface="Calibri" pitchFamily="34" charset="-122"/>
                <a:cs typeface="Calibri" pitchFamily="34" charset="-120"/>
              </a:rPr>
              <a:t>WHO health records</a:t>
            </a:r>
            <a:endParaRPr lang="en-US" sz="1250" dirty="0"/>
          </a:p>
        </p:txBody>
      </p:sp>
      <p:sp>
        <p:nvSpPr>
          <p:cNvPr id="15" name="Text 13"/>
          <p:cNvSpPr/>
          <p:nvPr/>
        </p:nvSpPr>
        <p:spPr>
          <a:xfrm>
            <a:off x="6172200" y="3474720"/>
            <a:ext cx="2240280" cy="365760"/>
          </a:xfrm>
          <a:prstGeom prst="rect">
            <a:avLst/>
          </a:prstGeom>
          <a:noFill/>
          <a:ln/>
        </p:spPr>
        <p:txBody>
          <a:bodyPr wrap="square" lIns="0" tIns="0" rIns="0" bIns="0" rtlCol="0" anchor="ctr"/>
          <a:lstStyle/>
          <a:p>
            <a:pPr indent="0" marL="0">
              <a:buNone/>
            </a:pPr>
            <a:r>
              <a:rPr lang="en-US" sz="950" dirty="0">
                <a:solidFill>
                  <a:srgbClr val="0A2438">
                    <a:alpha val="85000"/>
                  </a:srgbClr>
                </a:solidFill>
                <a:latin typeface="Calibri" pitchFamily="34" charset="0"/>
                <a:ea typeface="Calibri" pitchFamily="34" charset="-122"/>
                <a:cs typeface="Calibri" pitchFamily="34" charset="-120"/>
              </a:rPr>
              <a:t>GHO API, live-pulled</a:t>
            </a:r>
            <a:endParaRPr lang="en-US" sz="950" dirty="0"/>
          </a:p>
        </p:txBody>
      </p:sp>
      <p:sp>
        <p:nvSpPr>
          <p:cNvPr id="16" name="Shape 14"/>
          <p:cNvSpPr/>
          <p:nvPr/>
        </p:nvSpPr>
        <p:spPr>
          <a:xfrm>
            <a:off x="8823960" y="2331720"/>
            <a:ext cx="2606040" cy="1600200"/>
          </a:xfrm>
          <a:prstGeom prst="roundRect">
            <a:avLst>
              <a:gd name="adj" fmla="val 4571"/>
            </a:avLst>
          </a:prstGeom>
          <a:solidFill>
            <a:srgbClr val="D8E4E9"/>
          </a:solidFill>
          <a:ln/>
        </p:spPr>
      </p:sp>
      <p:sp>
        <p:nvSpPr>
          <p:cNvPr id="17" name="Text 15"/>
          <p:cNvSpPr/>
          <p:nvPr/>
        </p:nvSpPr>
        <p:spPr>
          <a:xfrm>
            <a:off x="9006840" y="2496312"/>
            <a:ext cx="2240280" cy="640080"/>
          </a:xfrm>
          <a:prstGeom prst="rect">
            <a:avLst/>
          </a:prstGeom>
          <a:noFill/>
          <a:ln/>
        </p:spPr>
        <p:txBody>
          <a:bodyPr wrap="square" lIns="0" tIns="0" rIns="0" bIns="0" rtlCol="0" anchor="ctr"/>
          <a:lstStyle/>
          <a:p>
            <a:pPr indent="0" marL="0">
              <a:buNone/>
            </a:pPr>
            <a:r>
              <a:rPr lang="en-US" sz="2600" b="1" dirty="0">
                <a:solidFill>
                  <a:srgbClr val="0A2438"/>
                </a:solidFill>
                <a:latin typeface="Cambria" pitchFamily="34" charset="0"/>
                <a:ea typeface="Cambria" pitchFamily="34" charset="-122"/>
                <a:cs typeface="Cambria" pitchFamily="34" charset="-120"/>
              </a:rPr>
              <a:t>3</a:t>
            </a:r>
            <a:endParaRPr lang="en-US" sz="2600" dirty="0"/>
          </a:p>
        </p:txBody>
      </p:sp>
      <p:sp>
        <p:nvSpPr>
          <p:cNvPr id="18" name="Text 16"/>
          <p:cNvSpPr/>
          <p:nvPr/>
        </p:nvSpPr>
        <p:spPr>
          <a:xfrm>
            <a:off x="9006840" y="3154680"/>
            <a:ext cx="2240280" cy="320040"/>
          </a:xfrm>
          <a:prstGeom prst="rect">
            <a:avLst/>
          </a:prstGeom>
          <a:noFill/>
          <a:ln/>
        </p:spPr>
        <p:txBody>
          <a:bodyPr wrap="square" lIns="0" tIns="0" rIns="0" bIns="0" rtlCol="0" anchor="ctr"/>
          <a:lstStyle/>
          <a:p>
            <a:pPr indent="0" marL="0">
              <a:buNone/>
            </a:pPr>
            <a:r>
              <a:rPr lang="en-US" sz="1250" b="1" dirty="0">
                <a:solidFill>
                  <a:srgbClr val="0A2438"/>
                </a:solidFill>
                <a:latin typeface="Calibri" pitchFamily="34" charset="0"/>
                <a:ea typeface="Calibri" pitchFamily="34" charset="-122"/>
                <a:cs typeface="Calibri" pitchFamily="34" charset="-120"/>
              </a:rPr>
              <a:t>datasets, 1 risk score</a:t>
            </a:r>
            <a:endParaRPr lang="en-US" sz="1250" dirty="0"/>
          </a:p>
        </p:txBody>
      </p:sp>
      <p:sp>
        <p:nvSpPr>
          <p:cNvPr id="19" name="Text 17"/>
          <p:cNvSpPr/>
          <p:nvPr/>
        </p:nvSpPr>
        <p:spPr>
          <a:xfrm>
            <a:off x="9006840" y="3474720"/>
            <a:ext cx="2240280" cy="365760"/>
          </a:xfrm>
          <a:prstGeom prst="rect">
            <a:avLst/>
          </a:prstGeom>
          <a:noFill/>
          <a:ln/>
        </p:spPr>
        <p:txBody>
          <a:bodyPr wrap="square" lIns="0" tIns="0" rIns="0" bIns="0" rtlCol="0" anchor="ctr"/>
          <a:lstStyle/>
          <a:p>
            <a:pPr indent="0" marL="0">
              <a:buNone/>
            </a:pPr>
            <a:r>
              <a:rPr lang="en-US" sz="950" dirty="0">
                <a:solidFill>
                  <a:srgbClr val="0A2438">
                    <a:alpha val="85000"/>
                  </a:srgbClr>
                </a:solidFill>
                <a:latin typeface="Calibri" pitchFamily="34" charset="0"/>
                <a:ea typeface="Calibri" pitchFamily="34" charset="-122"/>
                <a:cs typeface="Calibri" pitchFamily="34" charset="-120"/>
              </a:rPr>
              <a:t>combined via geospatial join</a:t>
            </a:r>
            <a:endParaRPr lang="en-US" sz="950" dirty="0"/>
          </a:p>
        </p:txBody>
      </p:sp>
      <p:sp>
        <p:nvSpPr>
          <p:cNvPr id="20" name="Text 18"/>
          <p:cNvSpPr/>
          <p:nvPr/>
        </p:nvSpPr>
        <p:spPr>
          <a:xfrm>
            <a:off x="548640" y="5394960"/>
            <a:ext cx="11064240" cy="457200"/>
          </a:xfrm>
          <a:prstGeom prst="rect">
            <a:avLst/>
          </a:prstGeom>
          <a:noFill/>
          <a:ln/>
        </p:spPr>
        <p:txBody>
          <a:bodyPr wrap="square" rtlCol="0" anchor="ctr"/>
          <a:lstStyle/>
          <a:p>
            <a:pPr indent="0" marL="0">
              <a:buNone/>
            </a:pPr>
            <a:r>
              <a:rPr lang="en-US" sz="1150" i="1" dirty="0">
                <a:solidFill>
                  <a:srgbClr val="1C7293"/>
                </a:solidFill>
                <a:latin typeface="Calibri" pitchFamily="34" charset="0"/>
                <a:ea typeface="Calibri" pitchFamily="34" charset="-122"/>
                <a:cs typeface="Calibri" pitchFamily="34" charset="-120"/>
              </a:rPr>
              <a:t>How they combine: WorldPop × PM2.5 → risk score per location. WHO GHO validates the result and shows where ground monitoring is weakest.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6858000" cy="548640"/>
          </a:xfrm>
          <a:prstGeom prst="rect">
            <a:avLst/>
          </a:prstGeom>
          <a:noFill/>
          <a:ln/>
        </p:spPr>
        <p:txBody>
          <a:bodyPr wrap="square" rtlCol="0" anchor="ctr"/>
          <a:lstStyle/>
          <a:p>
            <a:pPr indent="0" marL="0">
              <a:buNone/>
            </a:pPr>
            <a:r>
              <a:rPr lang="en-US" sz="2800" b="1" dirty="0">
                <a:solidFill>
                  <a:srgbClr val="0A2438"/>
                </a:solidFill>
                <a:latin typeface="Cambria" pitchFamily="34" charset="0"/>
                <a:ea typeface="Cambria" pitchFamily="34" charset="-122"/>
                <a:cs typeface="Cambria" pitchFamily="34" charset="-120"/>
              </a:rPr>
              <a:t>Pollution Isn't Evenly Spread</a:t>
            </a:r>
            <a:endParaRPr lang="en-US" sz="2800" dirty="0"/>
          </a:p>
        </p:txBody>
      </p:sp>
      <p:graphicFrame>
        <p:nvGraphicFramePr>
          <p:cNvPr id="3" name="Chart 0" descr=""/>
          <p:cNvGraphicFramePr/>
          <p:nvPr/>
        </p:nvGraphicFramePr>
        <p:xfrm>
          <a:off x="548640" y="1234440"/>
          <a:ext cx="6675120" cy="42062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543800" y="1234440"/>
            <a:ext cx="4069080" cy="1737360"/>
          </a:xfrm>
          <a:prstGeom prst="roundRect">
            <a:avLst>
              <a:gd name="adj" fmla="val 4211"/>
            </a:avLst>
          </a:prstGeom>
          <a:solidFill>
            <a:srgbClr val="0F2E44"/>
          </a:solidFill>
          <a:ln/>
        </p:spPr>
      </p:sp>
      <p:sp>
        <p:nvSpPr>
          <p:cNvPr id="5" name="Text 2"/>
          <p:cNvSpPr/>
          <p:nvPr/>
        </p:nvSpPr>
        <p:spPr>
          <a:xfrm>
            <a:off x="7772400" y="1417320"/>
            <a:ext cx="3611880" cy="1417320"/>
          </a:xfrm>
          <a:prstGeom prst="rect">
            <a:avLst/>
          </a:prstGeom>
          <a:noFill/>
          <a:ln/>
        </p:spPr>
        <p:txBody>
          <a:bodyPr wrap="square" lIns="0" tIns="0" rIns="0" bIns="0" rtlCol="0" anchor="ctr"/>
          <a:lstStyle/>
          <a:p>
            <a:pPr indent="0" marL="0">
              <a:lnSpc>
                <a:spcPct val="125000"/>
              </a:lnSpc>
              <a:buNone/>
            </a:pPr>
            <a:r>
              <a:rPr lang="en-US" sz="3000" b="1" dirty="0">
                <a:solidFill>
                  <a:srgbClr val="21C99A"/>
                </a:solidFill>
                <a:latin typeface="Calibri" pitchFamily="34" charset="0"/>
                <a:ea typeface="Calibri" pitchFamily="34" charset="-122"/>
                <a:cs typeface="Calibri" pitchFamily="34" charset="-120"/>
              </a:rPr>
              <a:t>22x</a:t>
            </a:r>
            <a:endParaRPr lang="en-US" sz="3000" dirty="0"/>
          </a:p>
          <a:p>
            <a:pPr indent="0" marL="0">
              <a:lnSpc>
                <a:spcPct val="125000"/>
              </a:lnSpc>
              <a:buNone/>
            </a:pPr>
            <a:r>
              <a:rPr lang="en-US" sz="1250" dirty="0">
                <a:solidFill>
                  <a:srgbClr val="F4F7F9"/>
                </a:solidFill>
                <a:latin typeface="Calibri" pitchFamily="34" charset="0"/>
                <a:ea typeface="Calibri" pitchFamily="34" charset="-122"/>
                <a:cs typeface="Calibri" pitchFamily="34" charset="-120"/>
              </a:rPr>
              <a:t>higher than the WHO guideline in Viwandani, an industrial informal settlement next to a rail corridor</a:t>
            </a:r>
            <a:endParaRPr lang="en-US" sz="3000" dirty="0"/>
          </a:p>
        </p:txBody>
      </p:sp>
      <p:sp>
        <p:nvSpPr>
          <p:cNvPr id="6" name="Shape 3"/>
          <p:cNvSpPr/>
          <p:nvPr/>
        </p:nvSpPr>
        <p:spPr>
          <a:xfrm>
            <a:off x="7543800" y="3154680"/>
            <a:ext cx="4069080" cy="1737360"/>
          </a:xfrm>
          <a:prstGeom prst="roundRect">
            <a:avLst>
              <a:gd name="adj" fmla="val 4211"/>
            </a:avLst>
          </a:prstGeom>
          <a:solidFill>
            <a:srgbClr val="F4F7F9"/>
          </a:solidFill>
          <a:ln/>
        </p:spPr>
      </p:sp>
      <p:sp>
        <p:nvSpPr>
          <p:cNvPr id="7" name="Text 4"/>
          <p:cNvSpPr/>
          <p:nvPr/>
        </p:nvSpPr>
        <p:spPr>
          <a:xfrm>
            <a:off x="7772400" y="3337560"/>
            <a:ext cx="3611880" cy="1417320"/>
          </a:xfrm>
          <a:prstGeom prst="rect">
            <a:avLst/>
          </a:prstGeom>
          <a:noFill/>
          <a:ln/>
        </p:spPr>
        <p:txBody>
          <a:bodyPr wrap="square" lIns="0" tIns="0" rIns="0" bIns="0" rtlCol="0" anchor="ctr"/>
          <a:lstStyle/>
          <a:p>
            <a:pPr indent="0" marL="0">
              <a:lnSpc>
                <a:spcPct val="125000"/>
              </a:lnSpc>
              <a:buNone/>
            </a:pPr>
            <a:r>
              <a:rPr lang="en-US" sz="3000" b="1" dirty="0">
                <a:solidFill>
                  <a:srgbClr val="065A82"/>
                </a:solidFill>
                <a:latin typeface="Calibri" pitchFamily="34" charset="0"/>
                <a:ea typeface="Calibri" pitchFamily="34" charset="-122"/>
                <a:cs typeface="Calibri" pitchFamily="34" charset="-120"/>
              </a:rPr>
              <a:t>5.2x</a:t>
            </a:r>
            <a:endParaRPr lang="en-US" sz="3000" dirty="0"/>
          </a:p>
          <a:p>
            <a:pPr indent="0" marL="0">
              <a:lnSpc>
                <a:spcPct val="125000"/>
              </a:lnSpc>
              <a:buNone/>
            </a:pPr>
            <a:r>
              <a:rPr lang="en-US" sz="1250" dirty="0">
                <a:solidFill>
                  <a:srgbClr val="5B6B76"/>
                </a:solidFill>
                <a:latin typeface="Calibri" pitchFamily="34" charset="0"/>
                <a:ea typeface="Calibri" pitchFamily="34" charset="-122"/>
                <a:cs typeface="Calibri" pitchFamily="34" charset="-120"/>
              </a:rPr>
              <a:t>gap between the cleanest reference site (Karura) and the worst-measured settlement, in the same city</a:t>
            </a:r>
            <a:endParaRPr lang="en-US" sz="3000" dirty="0"/>
          </a:p>
        </p:txBody>
      </p:sp>
      <p:sp>
        <p:nvSpPr>
          <p:cNvPr id="8" name="Text 5"/>
          <p:cNvSpPr/>
          <p:nvPr/>
        </p:nvSpPr>
        <p:spPr>
          <a:xfrm>
            <a:off x="7543800" y="5074920"/>
            <a:ext cx="4069080" cy="548640"/>
          </a:xfrm>
          <a:prstGeom prst="rect">
            <a:avLst/>
          </a:prstGeom>
          <a:noFill/>
          <a:ln/>
        </p:spPr>
        <p:txBody>
          <a:bodyPr wrap="square" rtlCol="0" anchor="ctr"/>
          <a:lstStyle/>
          <a:p>
            <a:pPr indent="0" marL="0">
              <a:lnSpc>
                <a:spcPct val="120000"/>
              </a:lnSpc>
              <a:buNone/>
            </a:pPr>
            <a:r>
              <a:rPr lang="en-US" sz="900" i="1" dirty="0">
                <a:solidFill>
                  <a:srgbClr val="5B6B76"/>
                </a:solidFill>
                <a:latin typeface="Calibri" pitchFamily="34" charset="0"/>
                <a:ea typeface="Calibri" pitchFamily="34" charset="-122"/>
                <a:cs typeface="Calibri" pitchFamily="34" charset="-120"/>
              </a:rPr>
              <a:t>Source: Oguge et al. 2024, Environmental Epidemiology; Spatial Extent PM2.5 Nairobi study; SEDAC/ACAG satellite estimates.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2438"/>
        </a:solidFill>
      </p:bgPr>
    </p:bg>
    <p:spTree>
      <p:nvGrpSpPr>
        <p:cNvPr id="1" name=""/>
        <p:cNvGrpSpPr/>
        <p:nvPr/>
      </p:nvGrpSpPr>
      <p:grpSpPr>
        <a:xfrm>
          <a:off x="0" y="0"/>
          <a:ext cx="0" cy="0"/>
          <a:chOff x="0" y="0"/>
          <a:chExt cx="0" cy="0"/>
        </a:xfrm>
      </p:grpSpPr>
      <p:sp>
        <p:nvSpPr>
          <p:cNvPr id="2" name="Text 0"/>
          <p:cNvSpPr/>
          <p:nvPr/>
        </p:nvSpPr>
        <p:spPr>
          <a:xfrm>
            <a:off x="548640" y="502920"/>
            <a:ext cx="73152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From Satellite to Street</a:t>
            </a:r>
            <a:endParaRPr lang="en-US" sz="3000" dirty="0"/>
          </a:p>
        </p:txBody>
      </p:sp>
      <p:sp>
        <p:nvSpPr>
          <p:cNvPr id="3" name="Text 1"/>
          <p:cNvSpPr/>
          <p:nvPr/>
        </p:nvSpPr>
        <p:spPr>
          <a:xfrm>
            <a:off x="548640" y="1188720"/>
            <a:ext cx="7772400" cy="548640"/>
          </a:xfrm>
          <a:prstGeom prst="rect">
            <a:avLst/>
          </a:prstGeom>
          <a:noFill/>
          <a:ln/>
        </p:spPr>
        <p:txBody>
          <a:bodyPr wrap="square" rtlCol="0" anchor="ctr"/>
          <a:lstStyle/>
          <a:p>
            <a:pPr indent="0" marL="0">
              <a:buNone/>
            </a:pPr>
            <a:r>
              <a:rPr lang="en-US" sz="1350" dirty="0">
                <a:solidFill>
                  <a:srgbClr val="AFC7D6"/>
                </a:solidFill>
                <a:latin typeface="Calibri" pitchFamily="34" charset="0"/>
                <a:ea typeface="Calibri" pitchFamily="34" charset="-122"/>
                <a:cs typeface="Calibri" pitchFamily="34" charset="-120"/>
              </a:rPr>
              <a:t>Each stage narrows raw satellite and census data down to one number: how many children, in this exact spot, are breathing dangerous air.</a:t>
            </a:r>
            <a:endParaRPr lang="en-US" sz="1350" dirty="0"/>
          </a:p>
        </p:txBody>
      </p:sp>
      <p:sp>
        <p:nvSpPr>
          <p:cNvPr id="4" name="Shape 2"/>
          <p:cNvSpPr/>
          <p:nvPr/>
        </p:nvSpPr>
        <p:spPr>
          <a:xfrm>
            <a:off x="548640" y="2194560"/>
            <a:ext cx="2526030" cy="3291840"/>
          </a:xfrm>
          <a:prstGeom prst="roundRect">
            <a:avLst>
              <a:gd name="adj" fmla="val 2896"/>
            </a:avLst>
          </a:prstGeom>
          <a:solidFill>
            <a:srgbClr val="065A82"/>
          </a:solidFill>
          <a:ln/>
        </p:spPr>
      </p:sp>
      <p:sp>
        <p:nvSpPr>
          <p:cNvPr id="5" name="Text 3"/>
          <p:cNvSpPr/>
          <p:nvPr/>
        </p:nvSpPr>
        <p:spPr>
          <a:xfrm>
            <a:off x="777240" y="2423160"/>
            <a:ext cx="2068830" cy="640080"/>
          </a:xfrm>
          <a:prstGeom prst="rect">
            <a:avLst/>
          </a:prstGeom>
          <a:noFill/>
          <a:ln/>
        </p:spPr>
        <p:txBody>
          <a:bodyPr wrap="square" lIns="0" tIns="0" rIns="0" bIns="0" rtlCol="0" anchor="ctr"/>
          <a:lstStyle/>
          <a:p>
            <a:pPr indent="0" marL="0">
              <a:buNone/>
            </a:pPr>
            <a:r>
              <a:rPr lang="en-US" sz="2600" b="1" dirty="0">
                <a:solidFill>
                  <a:srgbClr val="21C99A"/>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777240" y="3063240"/>
            <a:ext cx="206883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Collect</a:t>
            </a:r>
            <a:endParaRPr lang="en-US" sz="1600" dirty="0"/>
          </a:p>
        </p:txBody>
      </p:sp>
      <p:sp>
        <p:nvSpPr>
          <p:cNvPr id="7" name="Text 5"/>
          <p:cNvSpPr/>
          <p:nvPr/>
        </p:nvSpPr>
        <p:spPr>
          <a:xfrm>
            <a:off x="777240" y="3520440"/>
            <a:ext cx="2068830" cy="1737360"/>
          </a:xfrm>
          <a:prstGeom prst="rect">
            <a:avLst/>
          </a:prstGeom>
          <a:noFill/>
          <a:ln/>
        </p:spPr>
        <p:txBody>
          <a:bodyPr wrap="square" lIns="0" tIns="0" rIns="0" bIns="0" rtlCol="0" anchor="ctr"/>
          <a:lstStyle/>
          <a:p>
            <a:pPr indent="0" marL="0">
              <a:lnSpc>
                <a:spcPct val="130000"/>
              </a:lnSpc>
              <a:buNone/>
            </a:pPr>
            <a:r>
              <a:rPr lang="en-US" sz="1150" dirty="0">
                <a:solidFill>
                  <a:srgbClr val="D3E3EC"/>
                </a:solidFill>
                <a:latin typeface="Calibri" pitchFamily="34" charset="0"/>
                <a:ea typeface="Calibri" pitchFamily="34" charset="-122"/>
                <a:cs typeface="Calibri" pitchFamily="34" charset="-120"/>
              </a:rPr>
              <a:t>Pull real PM2.5, population, and WHO health data from live sources</a:t>
            </a:r>
            <a:endParaRPr lang="en-US" sz="1150" dirty="0"/>
          </a:p>
        </p:txBody>
      </p:sp>
      <p:sp>
        <p:nvSpPr>
          <p:cNvPr id="8" name="Text 6"/>
          <p:cNvSpPr/>
          <p:nvPr/>
        </p:nvSpPr>
        <p:spPr>
          <a:xfrm>
            <a:off x="3028950" y="3566160"/>
            <a:ext cx="411480" cy="457200"/>
          </a:xfrm>
          <a:prstGeom prst="rect">
            <a:avLst/>
          </a:prstGeom>
          <a:noFill/>
          <a:ln/>
        </p:spPr>
        <p:txBody>
          <a:bodyPr wrap="square" lIns="0" tIns="0" rIns="0" bIns="0" rtlCol="0" anchor="ctr"/>
          <a:lstStyle/>
          <a:p>
            <a:pPr algn="ctr" indent="0" marL="0">
              <a:buNone/>
            </a:pPr>
            <a:r>
              <a:rPr lang="en-US" sz="2000" dirty="0">
                <a:solidFill>
                  <a:srgbClr val="21C99A"/>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3394710" y="2194560"/>
            <a:ext cx="2526030" cy="3291840"/>
          </a:xfrm>
          <a:prstGeom prst="roundRect">
            <a:avLst>
              <a:gd name="adj" fmla="val 2896"/>
            </a:avLst>
          </a:prstGeom>
          <a:solidFill>
            <a:srgbClr val="065A82"/>
          </a:solidFill>
          <a:ln/>
        </p:spPr>
      </p:sp>
      <p:sp>
        <p:nvSpPr>
          <p:cNvPr id="10" name="Text 8"/>
          <p:cNvSpPr/>
          <p:nvPr/>
        </p:nvSpPr>
        <p:spPr>
          <a:xfrm>
            <a:off x="3623310" y="2423160"/>
            <a:ext cx="2068830" cy="640080"/>
          </a:xfrm>
          <a:prstGeom prst="rect">
            <a:avLst/>
          </a:prstGeom>
          <a:noFill/>
          <a:ln/>
        </p:spPr>
        <p:txBody>
          <a:bodyPr wrap="square" lIns="0" tIns="0" rIns="0" bIns="0" rtlCol="0" anchor="ctr"/>
          <a:lstStyle/>
          <a:p>
            <a:pPr indent="0" marL="0">
              <a:buNone/>
            </a:pPr>
            <a:r>
              <a:rPr lang="en-US" sz="2600" b="1" dirty="0">
                <a:solidFill>
                  <a:srgbClr val="21C99A"/>
                </a:solidFill>
                <a:latin typeface="Cambria" pitchFamily="34" charset="0"/>
                <a:ea typeface="Cambria" pitchFamily="34" charset="-122"/>
                <a:cs typeface="Cambria" pitchFamily="34" charset="-120"/>
              </a:rPr>
              <a:t>02</a:t>
            </a:r>
            <a:endParaRPr lang="en-US" sz="2600" dirty="0"/>
          </a:p>
        </p:txBody>
      </p:sp>
      <p:sp>
        <p:nvSpPr>
          <p:cNvPr id="11" name="Text 9"/>
          <p:cNvSpPr/>
          <p:nvPr/>
        </p:nvSpPr>
        <p:spPr>
          <a:xfrm>
            <a:off x="3623310" y="3063240"/>
            <a:ext cx="206883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Align</a:t>
            </a:r>
            <a:endParaRPr lang="en-US" sz="1600" dirty="0"/>
          </a:p>
        </p:txBody>
      </p:sp>
      <p:sp>
        <p:nvSpPr>
          <p:cNvPr id="12" name="Text 10"/>
          <p:cNvSpPr/>
          <p:nvPr/>
        </p:nvSpPr>
        <p:spPr>
          <a:xfrm>
            <a:off x="3623310" y="3520440"/>
            <a:ext cx="2068830" cy="1737360"/>
          </a:xfrm>
          <a:prstGeom prst="rect">
            <a:avLst/>
          </a:prstGeom>
          <a:noFill/>
          <a:ln/>
        </p:spPr>
        <p:txBody>
          <a:bodyPr wrap="square" lIns="0" tIns="0" rIns="0" bIns="0" rtlCol="0" anchor="ctr"/>
          <a:lstStyle/>
          <a:p>
            <a:pPr indent="0" marL="0">
              <a:lnSpc>
                <a:spcPct val="130000"/>
              </a:lnSpc>
              <a:buNone/>
            </a:pPr>
            <a:r>
              <a:rPr lang="en-US" sz="1150" dirty="0">
                <a:solidFill>
                  <a:srgbClr val="D3E3EC"/>
                </a:solidFill>
                <a:latin typeface="Calibri" pitchFamily="34" charset="0"/>
                <a:ea typeface="Calibri" pitchFamily="34" charset="-122"/>
                <a:cs typeface="Calibri" pitchFamily="34" charset="-120"/>
              </a:rPr>
              <a:t>Match pollution and population grids to the same locations</a:t>
            </a:r>
            <a:endParaRPr lang="en-US" sz="1150" dirty="0"/>
          </a:p>
        </p:txBody>
      </p:sp>
      <p:sp>
        <p:nvSpPr>
          <p:cNvPr id="13" name="Text 11"/>
          <p:cNvSpPr/>
          <p:nvPr/>
        </p:nvSpPr>
        <p:spPr>
          <a:xfrm>
            <a:off x="5875020" y="3566160"/>
            <a:ext cx="411480" cy="457200"/>
          </a:xfrm>
          <a:prstGeom prst="rect">
            <a:avLst/>
          </a:prstGeom>
          <a:noFill/>
          <a:ln/>
        </p:spPr>
        <p:txBody>
          <a:bodyPr wrap="square" lIns="0" tIns="0" rIns="0" bIns="0" rtlCol="0" anchor="ctr"/>
          <a:lstStyle/>
          <a:p>
            <a:pPr algn="ctr" indent="0" marL="0">
              <a:buNone/>
            </a:pPr>
            <a:r>
              <a:rPr lang="en-US" sz="2000" dirty="0">
                <a:solidFill>
                  <a:srgbClr val="21C99A"/>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6240780" y="2194560"/>
            <a:ext cx="2526030" cy="3291840"/>
          </a:xfrm>
          <a:prstGeom prst="roundRect">
            <a:avLst>
              <a:gd name="adj" fmla="val 2896"/>
            </a:avLst>
          </a:prstGeom>
          <a:solidFill>
            <a:srgbClr val="065A82"/>
          </a:solidFill>
          <a:ln/>
        </p:spPr>
      </p:sp>
      <p:sp>
        <p:nvSpPr>
          <p:cNvPr id="15" name="Text 13"/>
          <p:cNvSpPr/>
          <p:nvPr/>
        </p:nvSpPr>
        <p:spPr>
          <a:xfrm>
            <a:off x="6469380" y="2423160"/>
            <a:ext cx="2068830" cy="640080"/>
          </a:xfrm>
          <a:prstGeom prst="rect">
            <a:avLst/>
          </a:prstGeom>
          <a:noFill/>
          <a:ln/>
        </p:spPr>
        <p:txBody>
          <a:bodyPr wrap="square" lIns="0" tIns="0" rIns="0" bIns="0" rtlCol="0" anchor="ctr"/>
          <a:lstStyle/>
          <a:p>
            <a:pPr indent="0" marL="0">
              <a:buNone/>
            </a:pPr>
            <a:r>
              <a:rPr lang="en-US" sz="2600" b="1" dirty="0">
                <a:solidFill>
                  <a:srgbClr val="21C99A"/>
                </a:solidFill>
                <a:latin typeface="Cambria" pitchFamily="34" charset="0"/>
                <a:ea typeface="Cambria" pitchFamily="34" charset="-122"/>
                <a:cs typeface="Cambria" pitchFamily="34" charset="-120"/>
              </a:rPr>
              <a:t>03</a:t>
            </a:r>
            <a:endParaRPr lang="en-US" sz="2600" dirty="0"/>
          </a:p>
        </p:txBody>
      </p:sp>
      <p:sp>
        <p:nvSpPr>
          <p:cNvPr id="16" name="Text 14"/>
          <p:cNvSpPr/>
          <p:nvPr/>
        </p:nvSpPr>
        <p:spPr>
          <a:xfrm>
            <a:off x="6469380" y="3063240"/>
            <a:ext cx="206883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Score</a:t>
            </a:r>
            <a:endParaRPr lang="en-US" sz="1600" dirty="0"/>
          </a:p>
        </p:txBody>
      </p:sp>
      <p:sp>
        <p:nvSpPr>
          <p:cNvPr id="17" name="Text 15"/>
          <p:cNvSpPr/>
          <p:nvPr/>
        </p:nvSpPr>
        <p:spPr>
          <a:xfrm>
            <a:off x="6469380" y="3520440"/>
            <a:ext cx="2068830" cy="1737360"/>
          </a:xfrm>
          <a:prstGeom prst="rect">
            <a:avLst/>
          </a:prstGeom>
          <a:noFill/>
          <a:ln/>
        </p:spPr>
        <p:txBody>
          <a:bodyPr wrap="square" lIns="0" tIns="0" rIns="0" bIns="0" rtlCol="0" anchor="ctr"/>
          <a:lstStyle/>
          <a:p>
            <a:pPr indent="0" marL="0">
              <a:lnSpc>
                <a:spcPct val="130000"/>
              </a:lnSpc>
              <a:buNone/>
            </a:pPr>
            <a:r>
              <a:rPr lang="en-US" sz="1150" dirty="0">
                <a:solidFill>
                  <a:srgbClr val="D3E3EC"/>
                </a:solidFill>
                <a:latin typeface="Calibri" pitchFamily="34" charset="0"/>
                <a:ea typeface="Calibri" pitchFamily="34" charset="-122"/>
                <a:cs typeface="Calibri" pitchFamily="34" charset="-120"/>
              </a:rPr>
              <a:t>Multiply exposure × population, per location</a:t>
            </a:r>
            <a:endParaRPr lang="en-US" sz="1150" dirty="0"/>
          </a:p>
        </p:txBody>
      </p:sp>
      <p:sp>
        <p:nvSpPr>
          <p:cNvPr id="18" name="Text 16"/>
          <p:cNvSpPr/>
          <p:nvPr/>
        </p:nvSpPr>
        <p:spPr>
          <a:xfrm>
            <a:off x="8721090" y="3566160"/>
            <a:ext cx="411480" cy="457200"/>
          </a:xfrm>
          <a:prstGeom prst="rect">
            <a:avLst/>
          </a:prstGeom>
          <a:noFill/>
          <a:ln/>
        </p:spPr>
        <p:txBody>
          <a:bodyPr wrap="square" lIns="0" tIns="0" rIns="0" bIns="0" rtlCol="0" anchor="ctr"/>
          <a:lstStyle/>
          <a:p>
            <a:pPr algn="ctr" indent="0" marL="0">
              <a:buNone/>
            </a:pPr>
            <a:r>
              <a:rPr lang="en-US" sz="2000" dirty="0">
                <a:solidFill>
                  <a:srgbClr val="21C99A"/>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9086850" y="2194560"/>
            <a:ext cx="2526030" cy="3291840"/>
          </a:xfrm>
          <a:prstGeom prst="roundRect">
            <a:avLst>
              <a:gd name="adj" fmla="val 2896"/>
            </a:avLst>
          </a:prstGeom>
          <a:solidFill>
            <a:srgbClr val="065A82"/>
          </a:solidFill>
          <a:ln/>
        </p:spPr>
      </p:sp>
      <p:sp>
        <p:nvSpPr>
          <p:cNvPr id="20" name="Text 18"/>
          <p:cNvSpPr/>
          <p:nvPr/>
        </p:nvSpPr>
        <p:spPr>
          <a:xfrm>
            <a:off x="9315450" y="2423160"/>
            <a:ext cx="2068830" cy="640080"/>
          </a:xfrm>
          <a:prstGeom prst="rect">
            <a:avLst/>
          </a:prstGeom>
          <a:noFill/>
          <a:ln/>
        </p:spPr>
        <p:txBody>
          <a:bodyPr wrap="square" lIns="0" tIns="0" rIns="0" bIns="0" rtlCol="0" anchor="ctr"/>
          <a:lstStyle/>
          <a:p>
            <a:pPr indent="0" marL="0">
              <a:buNone/>
            </a:pPr>
            <a:r>
              <a:rPr lang="en-US" sz="2600" b="1" dirty="0">
                <a:solidFill>
                  <a:srgbClr val="21C99A"/>
                </a:solidFill>
                <a:latin typeface="Cambria" pitchFamily="34" charset="0"/>
                <a:ea typeface="Cambria" pitchFamily="34" charset="-122"/>
                <a:cs typeface="Cambria" pitchFamily="34" charset="-120"/>
              </a:rPr>
              <a:t>04</a:t>
            </a:r>
            <a:endParaRPr lang="en-US" sz="2600" dirty="0"/>
          </a:p>
        </p:txBody>
      </p:sp>
      <p:sp>
        <p:nvSpPr>
          <p:cNvPr id="21" name="Text 19"/>
          <p:cNvSpPr/>
          <p:nvPr/>
        </p:nvSpPr>
        <p:spPr>
          <a:xfrm>
            <a:off x="9315450" y="3063240"/>
            <a:ext cx="206883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Act</a:t>
            </a:r>
            <a:endParaRPr lang="en-US" sz="1600" dirty="0"/>
          </a:p>
        </p:txBody>
      </p:sp>
      <p:sp>
        <p:nvSpPr>
          <p:cNvPr id="22" name="Text 20"/>
          <p:cNvSpPr/>
          <p:nvPr/>
        </p:nvSpPr>
        <p:spPr>
          <a:xfrm>
            <a:off x="9315450" y="3520440"/>
            <a:ext cx="2068830" cy="1737360"/>
          </a:xfrm>
          <a:prstGeom prst="rect">
            <a:avLst/>
          </a:prstGeom>
          <a:noFill/>
          <a:ln/>
        </p:spPr>
        <p:txBody>
          <a:bodyPr wrap="square" lIns="0" tIns="0" rIns="0" bIns="0" rtlCol="0" anchor="ctr"/>
          <a:lstStyle/>
          <a:p>
            <a:pPr indent="0" marL="0">
              <a:lnSpc>
                <a:spcPct val="130000"/>
              </a:lnSpc>
              <a:buNone/>
            </a:pPr>
            <a:r>
              <a:rPr lang="en-US" sz="1150" dirty="0">
                <a:solidFill>
                  <a:srgbClr val="D3E3EC"/>
                </a:solidFill>
                <a:latin typeface="Calibri" pitchFamily="34" charset="0"/>
                <a:ea typeface="Calibri" pitchFamily="34" charset="-122"/>
                <a:cs typeface="Calibri" pitchFamily="34" charset="-120"/>
              </a:rPr>
              <a:t>Rank neighborhoods so responders know where to go first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5486400" cy="640080"/>
          </a:xfrm>
          <a:prstGeom prst="rect">
            <a:avLst/>
          </a:prstGeom>
          <a:noFill/>
          <a:ln/>
        </p:spPr>
        <p:txBody>
          <a:bodyPr wrap="square" rtlCol="0" anchor="ctr"/>
          <a:lstStyle/>
          <a:p>
            <a:pPr indent="0" marL="0">
              <a:buNone/>
            </a:pPr>
            <a:r>
              <a:rPr lang="en-US" sz="3000" b="1" dirty="0">
                <a:solidFill>
                  <a:srgbClr val="0A2438"/>
                </a:solidFill>
                <a:latin typeface="Cambria" pitchFamily="34" charset="0"/>
                <a:ea typeface="Cambria" pitchFamily="34" charset="-122"/>
                <a:cs typeface="Cambria" pitchFamily="34" charset="-120"/>
              </a:rPr>
              <a:t>Why This Matters</a:t>
            </a:r>
            <a:endParaRPr lang="en-US" sz="3000" dirty="0"/>
          </a:p>
        </p:txBody>
      </p:sp>
      <p:sp>
        <p:nvSpPr>
          <p:cNvPr id="3" name="Text 1"/>
          <p:cNvSpPr/>
          <p:nvPr/>
        </p:nvSpPr>
        <p:spPr>
          <a:xfrm>
            <a:off x="548640" y="1234440"/>
            <a:ext cx="10789920" cy="457200"/>
          </a:xfrm>
          <a:prstGeom prst="rect">
            <a:avLst/>
          </a:prstGeom>
          <a:noFill/>
          <a:ln/>
        </p:spPr>
        <p:txBody>
          <a:bodyPr wrap="square" rtlCol="0" anchor="ctr"/>
          <a:lstStyle/>
          <a:p>
            <a:pPr indent="0" marL="0">
              <a:buNone/>
            </a:pPr>
            <a:r>
              <a:rPr lang="en-US" sz="1300" dirty="0">
                <a:solidFill>
                  <a:srgbClr val="5B6B76"/>
                </a:solidFill>
                <a:latin typeface="Calibri" pitchFamily="34" charset="0"/>
                <a:ea typeface="Calibri" pitchFamily="34" charset="-122"/>
                <a:cs typeface="Calibri" pitchFamily="34" charset="-120"/>
              </a:rPr>
              <a:t>Air pollution is already a documented, measurable cause of child illness in Kenya — the data below is real, not modeled.</a:t>
            </a:r>
            <a:endParaRPr lang="en-US" sz="1300" dirty="0"/>
          </a:p>
        </p:txBody>
      </p:sp>
      <p:sp>
        <p:nvSpPr>
          <p:cNvPr id="4" name="Shape 2"/>
          <p:cNvSpPr/>
          <p:nvPr/>
        </p:nvSpPr>
        <p:spPr>
          <a:xfrm>
            <a:off x="548640" y="1965960"/>
            <a:ext cx="3611880" cy="1691640"/>
          </a:xfrm>
          <a:prstGeom prst="roundRect">
            <a:avLst>
              <a:gd name="adj" fmla="val 3784"/>
            </a:avLst>
          </a:prstGeom>
          <a:solidFill>
            <a:srgbClr val="F4F7F9"/>
          </a:solidFill>
          <a:ln/>
        </p:spPr>
      </p:sp>
      <p:sp>
        <p:nvSpPr>
          <p:cNvPr id="5" name="Text 3"/>
          <p:cNvSpPr/>
          <p:nvPr/>
        </p:nvSpPr>
        <p:spPr>
          <a:xfrm>
            <a:off x="749808" y="2130552"/>
            <a:ext cx="3209544" cy="548640"/>
          </a:xfrm>
          <a:prstGeom prst="rect">
            <a:avLst/>
          </a:prstGeom>
          <a:noFill/>
          <a:ln/>
        </p:spPr>
        <p:txBody>
          <a:bodyPr wrap="square" lIns="0" tIns="0" rIns="0" bIns="0" rtlCol="0" anchor="ctr"/>
          <a:lstStyle/>
          <a:p>
            <a:pPr indent="0" marL="0">
              <a:buNone/>
            </a:pPr>
            <a:r>
              <a:rPr lang="en-US" sz="2400" b="1" dirty="0">
                <a:solidFill>
                  <a:srgbClr val="065A82"/>
                </a:solidFill>
                <a:latin typeface="Cambria" pitchFamily="34" charset="0"/>
                <a:ea typeface="Cambria" pitchFamily="34" charset="-122"/>
                <a:cs typeface="Cambria" pitchFamily="34" charset="-120"/>
              </a:rPr>
              <a:t>8,000</a:t>
            </a:r>
            <a:endParaRPr lang="en-US" sz="2400" dirty="0"/>
          </a:p>
        </p:txBody>
      </p:sp>
      <p:sp>
        <p:nvSpPr>
          <p:cNvPr id="6" name="Text 4"/>
          <p:cNvSpPr/>
          <p:nvPr/>
        </p:nvSpPr>
        <p:spPr>
          <a:xfrm>
            <a:off x="749808" y="2715768"/>
            <a:ext cx="3209544" cy="868680"/>
          </a:xfrm>
          <a:prstGeom prst="rect">
            <a:avLst/>
          </a:prstGeom>
          <a:noFill/>
          <a:ln/>
        </p:spPr>
        <p:txBody>
          <a:bodyPr wrap="square" lIns="0" tIns="0" rIns="0" bIns="0" rtlCol="0" anchor="ctr"/>
          <a:lstStyle/>
          <a:p>
            <a:pPr indent="0" marL="0">
              <a:lnSpc>
                <a:spcPct val="125000"/>
              </a:lnSpc>
              <a:buNone/>
            </a:pPr>
            <a:r>
              <a:rPr lang="en-US" sz="1100" dirty="0">
                <a:solidFill>
                  <a:srgbClr val="5B6B76"/>
                </a:solidFill>
                <a:latin typeface="Calibri" pitchFamily="34" charset="0"/>
                <a:ea typeface="Calibri" pitchFamily="34" charset="-122"/>
                <a:cs typeface="Calibri" pitchFamily="34" charset="-120"/>
              </a:rPr>
              <a:t>premature deaths per year</a:t>
            </a:r>
            <a:endParaRPr lang="en-US" sz="1100" dirty="0"/>
          </a:p>
          <a:p>
            <a:pPr indent="0" marL="0">
              <a:lnSpc>
                <a:spcPct val="125000"/>
              </a:lnSpc>
              <a:buNone/>
            </a:pPr>
            <a:r>
              <a:rPr lang="en-US" sz="1100" dirty="0">
                <a:solidFill>
                  <a:srgbClr val="5B6B76"/>
                </a:solidFill>
                <a:latin typeface="Calibri" pitchFamily="34" charset="0"/>
                <a:ea typeface="Calibri" pitchFamily="34" charset="-122"/>
                <a:cs typeface="Calibri" pitchFamily="34" charset="-120"/>
              </a:rPr>
              <a:t>in Nairobi linked to air pollution</a:t>
            </a:r>
            <a:endParaRPr lang="en-US" sz="1100" dirty="0"/>
          </a:p>
        </p:txBody>
      </p:sp>
      <p:sp>
        <p:nvSpPr>
          <p:cNvPr id="7" name="Shape 5"/>
          <p:cNvSpPr/>
          <p:nvPr/>
        </p:nvSpPr>
        <p:spPr>
          <a:xfrm>
            <a:off x="4297680" y="1965960"/>
            <a:ext cx="3611880" cy="1691640"/>
          </a:xfrm>
          <a:prstGeom prst="roundRect">
            <a:avLst>
              <a:gd name="adj" fmla="val 3784"/>
            </a:avLst>
          </a:prstGeom>
          <a:solidFill>
            <a:srgbClr val="F4F7F9"/>
          </a:solidFill>
          <a:ln/>
        </p:spPr>
      </p:sp>
      <p:sp>
        <p:nvSpPr>
          <p:cNvPr id="8" name="Text 6"/>
          <p:cNvSpPr/>
          <p:nvPr/>
        </p:nvSpPr>
        <p:spPr>
          <a:xfrm>
            <a:off x="4498848" y="2130552"/>
            <a:ext cx="3209544" cy="548640"/>
          </a:xfrm>
          <a:prstGeom prst="rect">
            <a:avLst/>
          </a:prstGeom>
          <a:noFill/>
          <a:ln/>
        </p:spPr>
        <p:txBody>
          <a:bodyPr wrap="square" lIns="0" tIns="0" rIns="0" bIns="0" rtlCol="0" anchor="ctr"/>
          <a:lstStyle/>
          <a:p>
            <a:pPr indent="0" marL="0">
              <a:buNone/>
            </a:pPr>
            <a:r>
              <a:rPr lang="en-US" sz="2400" b="1" dirty="0">
                <a:solidFill>
                  <a:srgbClr val="065A82"/>
                </a:solidFill>
                <a:latin typeface="Cambria" pitchFamily="34" charset="0"/>
                <a:ea typeface="Cambria" pitchFamily="34" charset="-122"/>
                <a:cs typeface="Cambria" pitchFamily="34" charset="-120"/>
              </a:rPr>
              <a:t>80%</a:t>
            </a:r>
            <a:endParaRPr lang="en-US" sz="2400" dirty="0"/>
          </a:p>
        </p:txBody>
      </p:sp>
      <p:sp>
        <p:nvSpPr>
          <p:cNvPr id="9" name="Text 7"/>
          <p:cNvSpPr/>
          <p:nvPr/>
        </p:nvSpPr>
        <p:spPr>
          <a:xfrm>
            <a:off x="4498848" y="2715768"/>
            <a:ext cx="3209544" cy="868680"/>
          </a:xfrm>
          <a:prstGeom prst="rect">
            <a:avLst/>
          </a:prstGeom>
          <a:noFill/>
          <a:ln/>
        </p:spPr>
        <p:txBody>
          <a:bodyPr wrap="square" lIns="0" tIns="0" rIns="0" bIns="0" rtlCol="0" anchor="ctr"/>
          <a:lstStyle/>
          <a:p>
            <a:pPr indent="0" marL="0">
              <a:lnSpc>
                <a:spcPct val="125000"/>
              </a:lnSpc>
              <a:buNone/>
            </a:pPr>
            <a:r>
              <a:rPr lang="en-US" sz="1100" dirty="0">
                <a:solidFill>
                  <a:srgbClr val="5B6B76"/>
                </a:solidFill>
                <a:latin typeface="Calibri" pitchFamily="34" charset="0"/>
                <a:ea typeface="Calibri" pitchFamily="34" charset="-122"/>
                <a:cs typeface="Calibri" pitchFamily="34" charset="-120"/>
              </a:rPr>
              <a:t>of hospital visits at one Nairobi</a:t>
            </a:r>
            <a:endParaRPr lang="en-US" sz="1100" dirty="0"/>
          </a:p>
          <a:p>
            <a:pPr indent="0" marL="0">
              <a:lnSpc>
                <a:spcPct val="125000"/>
              </a:lnSpc>
              <a:buNone/>
            </a:pPr>
            <a:r>
              <a:rPr lang="en-US" sz="1100" dirty="0">
                <a:solidFill>
                  <a:srgbClr val="5B6B76"/>
                </a:solidFill>
                <a:latin typeface="Calibri" pitchFamily="34" charset="0"/>
                <a:ea typeface="Calibri" pitchFamily="34" charset="-122"/>
                <a:cs typeface="Calibri" pitchFamily="34" charset="-120"/>
              </a:rPr>
              <a:t>clinic linked to air pollution</a:t>
            </a:r>
            <a:endParaRPr lang="en-US" sz="1100" dirty="0"/>
          </a:p>
        </p:txBody>
      </p:sp>
      <p:sp>
        <p:nvSpPr>
          <p:cNvPr id="10" name="Shape 8"/>
          <p:cNvSpPr/>
          <p:nvPr/>
        </p:nvSpPr>
        <p:spPr>
          <a:xfrm>
            <a:off x="8046720" y="1965960"/>
            <a:ext cx="3611880" cy="1691640"/>
          </a:xfrm>
          <a:prstGeom prst="roundRect">
            <a:avLst>
              <a:gd name="adj" fmla="val 3784"/>
            </a:avLst>
          </a:prstGeom>
          <a:solidFill>
            <a:srgbClr val="F4F7F9"/>
          </a:solidFill>
          <a:ln/>
        </p:spPr>
      </p:sp>
      <p:sp>
        <p:nvSpPr>
          <p:cNvPr id="11" name="Text 9"/>
          <p:cNvSpPr/>
          <p:nvPr/>
        </p:nvSpPr>
        <p:spPr>
          <a:xfrm>
            <a:off x="8247888" y="2130552"/>
            <a:ext cx="3209544" cy="548640"/>
          </a:xfrm>
          <a:prstGeom prst="rect">
            <a:avLst/>
          </a:prstGeom>
          <a:noFill/>
          <a:ln/>
        </p:spPr>
        <p:txBody>
          <a:bodyPr wrap="square" lIns="0" tIns="0" rIns="0" bIns="0" rtlCol="0" anchor="ctr"/>
          <a:lstStyle/>
          <a:p>
            <a:pPr indent="0" marL="0">
              <a:buNone/>
            </a:pPr>
            <a:r>
              <a:rPr lang="en-US" sz="2400" b="1" dirty="0">
                <a:solidFill>
                  <a:srgbClr val="065A82"/>
                </a:solidFill>
                <a:latin typeface="Cambria" pitchFamily="34" charset="0"/>
                <a:ea typeface="Cambria" pitchFamily="34" charset="-122"/>
                <a:cs typeface="Cambria" pitchFamily="34" charset="-120"/>
              </a:rPr>
              <a:t>14%</a:t>
            </a:r>
            <a:endParaRPr lang="en-US" sz="2400" dirty="0"/>
          </a:p>
        </p:txBody>
      </p:sp>
      <p:sp>
        <p:nvSpPr>
          <p:cNvPr id="12" name="Text 10"/>
          <p:cNvSpPr/>
          <p:nvPr/>
        </p:nvSpPr>
        <p:spPr>
          <a:xfrm>
            <a:off x="8247888" y="2715768"/>
            <a:ext cx="3209544" cy="868680"/>
          </a:xfrm>
          <a:prstGeom prst="rect">
            <a:avLst/>
          </a:prstGeom>
          <a:noFill/>
          <a:ln/>
        </p:spPr>
        <p:txBody>
          <a:bodyPr wrap="square" lIns="0" tIns="0" rIns="0" bIns="0" rtlCol="0" anchor="ctr"/>
          <a:lstStyle/>
          <a:p>
            <a:pPr indent="0" marL="0">
              <a:lnSpc>
                <a:spcPct val="125000"/>
              </a:lnSpc>
              <a:buNone/>
            </a:pPr>
            <a:r>
              <a:rPr lang="en-US" sz="1100" dirty="0">
                <a:solidFill>
                  <a:srgbClr val="5B6B76"/>
                </a:solidFill>
                <a:latin typeface="Calibri" pitchFamily="34" charset="0"/>
                <a:ea typeface="Calibri" pitchFamily="34" charset="-122"/>
                <a:cs typeface="Calibri" pitchFamily="34" charset="-120"/>
              </a:rPr>
              <a:t>of all under-5 deaths in Kenya</a:t>
            </a:r>
            <a:endParaRPr lang="en-US" sz="1100" dirty="0"/>
          </a:p>
          <a:p>
            <a:pPr indent="0" marL="0">
              <a:lnSpc>
                <a:spcPct val="125000"/>
              </a:lnSpc>
              <a:buNone/>
            </a:pPr>
            <a:r>
              <a:rPr lang="en-US" sz="1100" dirty="0">
                <a:solidFill>
                  <a:srgbClr val="5B6B76"/>
                </a:solidFill>
                <a:latin typeface="Calibri" pitchFamily="34" charset="0"/>
                <a:ea typeface="Calibri" pitchFamily="34" charset="-122"/>
                <a:cs typeface="Calibri" pitchFamily="34" charset="-120"/>
              </a:rPr>
              <a:t>are from pneumonia</a:t>
            </a:r>
            <a:endParaRPr lang="en-US" sz="1100" dirty="0"/>
          </a:p>
        </p:txBody>
      </p:sp>
      <p:sp>
        <p:nvSpPr>
          <p:cNvPr id="13" name="Shape 11"/>
          <p:cNvSpPr/>
          <p:nvPr/>
        </p:nvSpPr>
        <p:spPr>
          <a:xfrm>
            <a:off x="548640" y="3840480"/>
            <a:ext cx="3611880" cy="1691640"/>
          </a:xfrm>
          <a:prstGeom prst="roundRect">
            <a:avLst>
              <a:gd name="adj" fmla="val 3784"/>
            </a:avLst>
          </a:prstGeom>
          <a:solidFill>
            <a:srgbClr val="F4F7F9"/>
          </a:solidFill>
          <a:ln/>
        </p:spPr>
      </p:sp>
      <p:sp>
        <p:nvSpPr>
          <p:cNvPr id="14" name="Text 12"/>
          <p:cNvSpPr/>
          <p:nvPr/>
        </p:nvSpPr>
        <p:spPr>
          <a:xfrm>
            <a:off x="749808" y="4005072"/>
            <a:ext cx="3209544" cy="548640"/>
          </a:xfrm>
          <a:prstGeom prst="rect">
            <a:avLst/>
          </a:prstGeom>
          <a:noFill/>
          <a:ln/>
        </p:spPr>
        <p:txBody>
          <a:bodyPr wrap="square" lIns="0" tIns="0" rIns="0" bIns="0" rtlCol="0" anchor="ctr"/>
          <a:lstStyle/>
          <a:p>
            <a:pPr indent="0" marL="0">
              <a:buNone/>
            </a:pPr>
            <a:r>
              <a:rPr lang="en-US" sz="2400" b="1" dirty="0">
                <a:solidFill>
                  <a:srgbClr val="065A82"/>
                </a:solidFill>
                <a:latin typeface="Cambria" pitchFamily="34" charset="0"/>
                <a:ea typeface="Cambria" pitchFamily="34" charset="-122"/>
                <a:cs typeface="Cambria" pitchFamily="34" charset="-120"/>
              </a:rPr>
              <a:t>68.6%</a:t>
            </a:r>
            <a:endParaRPr lang="en-US" sz="2400" dirty="0"/>
          </a:p>
        </p:txBody>
      </p:sp>
      <p:sp>
        <p:nvSpPr>
          <p:cNvPr id="15" name="Text 13"/>
          <p:cNvSpPr/>
          <p:nvPr/>
        </p:nvSpPr>
        <p:spPr>
          <a:xfrm>
            <a:off x="749808" y="4590288"/>
            <a:ext cx="3209544" cy="868680"/>
          </a:xfrm>
          <a:prstGeom prst="rect">
            <a:avLst/>
          </a:prstGeom>
          <a:noFill/>
          <a:ln/>
        </p:spPr>
        <p:txBody>
          <a:bodyPr wrap="square" lIns="0" tIns="0" rIns="0" bIns="0" rtlCol="0" anchor="ctr"/>
          <a:lstStyle/>
          <a:p>
            <a:pPr indent="0" marL="0">
              <a:lnSpc>
                <a:spcPct val="125000"/>
              </a:lnSpc>
              <a:buNone/>
            </a:pPr>
            <a:r>
              <a:rPr lang="en-US" sz="1100" dirty="0">
                <a:solidFill>
                  <a:srgbClr val="5B6B76"/>
                </a:solidFill>
                <a:latin typeface="Calibri" pitchFamily="34" charset="0"/>
                <a:ea typeface="Calibri" pitchFamily="34" charset="-122"/>
                <a:cs typeface="Calibri" pitchFamily="34" charset="-120"/>
              </a:rPr>
              <a:t>of children with pneumonia symptoms</a:t>
            </a:r>
            <a:endParaRPr lang="en-US" sz="1100" dirty="0"/>
          </a:p>
          <a:p>
            <a:pPr indent="0" marL="0">
              <a:lnSpc>
                <a:spcPct val="125000"/>
              </a:lnSpc>
              <a:buNone/>
            </a:pPr>
            <a:r>
              <a:rPr lang="en-US" sz="1100" dirty="0">
                <a:solidFill>
                  <a:srgbClr val="5B6B76"/>
                </a:solidFill>
                <a:latin typeface="Calibri" pitchFamily="34" charset="0"/>
                <a:ea typeface="Calibri" pitchFamily="34" charset="-122"/>
                <a:cs typeface="Calibri" pitchFamily="34" charset="-120"/>
              </a:rPr>
              <a:t>were taken to a clinic (2014, mid-income)</a:t>
            </a:r>
            <a:endParaRPr lang="en-US" sz="1100" dirty="0"/>
          </a:p>
        </p:txBody>
      </p:sp>
      <p:sp>
        <p:nvSpPr>
          <p:cNvPr id="16" name="Shape 14"/>
          <p:cNvSpPr/>
          <p:nvPr/>
        </p:nvSpPr>
        <p:spPr>
          <a:xfrm>
            <a:off x="4297680" y="3840480"/>
            <a:ext cx="3611880" cy="1691640"/>
          </a:xfrm>
          <a:prstGeom prst="roundRect">
            <a:avLst>
              <a:gd name="adj" fmla="val 3784"/>
            </a:avLst>
          </a:prstGeom>
          <a:solidFill>
            <a:srgbClr val="F4F7F9"/>
          </a:solidFill>
          <a:ln/>
        </p:spPr>
      </p:sp>
      <p:sp>
        <p:nvSpPr>
          <p:cNvPr id="17" name="Text 15"/>
          <p:cNvSpPr/>
          <p:nvPr/>
        </p:nvSpPr>
        <p:spPr>
          <a:xfrm>
            <a:off x="4498848" y="4005072"/>
            <a:ext cx="3209544" cy="548640"/>
          </a:xfrm>
          <a:prstGeom prst="rect">
            <a:avLst/>
          </a:prstGeom>
          <a:noFill/>
          <a:ln/>
        </p:spPr>
        <p:txBody>
          <a:bodyPr wrap="square" lIns="0" tIns="0" rIns="0" bIns="0" rtlCol="0" anchor="ctr"/>
          <a:lstStyle/>
          <a:p>
            <a:pPr indent="0" marL="0">
              <a:buNone/>
            </a:pPr>
            <a:r>
              <a:rPr lang="en-US" sz="2400" b="1" dirty="0">
                <a:solidFill>
                  <a:srgbClr val="065A82"/>
                </a:solidFill>
                <a:latin typeface="Cambria" pitchFamily="34" charset="0"/>
                <a:ea typeface="Cambria" pitchFamily="34" charset="-122"/>
                <a:cs typeface="Cambria" pitchFamily="34" charset="-120"/>
              </a:rPr>
              <a:t>21%</a:t>
            </a:r>
            <a:endParaRPr lang="en-US" sz="2400" dirty="0"/>
          </a:p>
        </p:txBody>
      </p:sp>
      <p:sp>
        <p:nvSpPr>
          <p:cNvPr id="18" name="Text 16"/>
          <p:cNvSpPr/>
          <p:nvPr/>
        </p:nvSpPr>
        <p:spPr>
          <a:xfrm>
            <a:off x="4498848" y="4590288"/>
            <a:ext cx="3209544" cy="868680"/>
          </a:xfrm>
          <a:prstGeom prst="rect">
            <a:avLst/>
          </a:prstGeom>
          <a:noFill/>
          <a:ln/>
        </p:spPr>
        <p:txBody>
          <a:bodyPr wrap="square" lIns="0" tIns="0" rIns="0" bIns="0" rtlCol="0" anchor="ctr"/>
          <a:lstStyle/>
          <a:p>
            <a:pPr indent="0" marL="0">
              <a:lnSpc>
                <a:spcPct val="125000"/>
              </a:lnSpc>
              <a:buNone/>
            </a:pPr>
            <a:r>
              <a:rPr lang="en-US" sz="1100" dirty="0">
                <a:solidFill>
                  <a:srgbClr val="5B6B76"/>
                </a:solidFill>
                <a:latin typeface="Calibri" pitchFamily="34" charset="0"/>
                <a:ea typeface="Calibri" pitchFamily="34" charset="-122"/>
                <a:cs typeface="Calibri" pitchFamily="34" charset="-120"/>
              </a:rPr>
              <a:t>of Kenya's population lives below</a:t>
            </a:r>
            <a:endParaRPr lang="en-US" sz="1100" dirty="0"/>
          </a:p>
          <a:p>
            <a:pPr indent="0" marL="0">
              <a:lnSpc>
                <a:spcPct val="125000"/>
              </a:lnSpc>
              <a:buNone/>
            </a:pPr>
            <a:r>
              <a:rPr lang="en-US" sz="1100" dirty="0">
                <a:solidFill>
                  <a:srgbClr val="5B6B76"/>
                </a:solidFill>
                <a:latin typeface="Calibri" pitchFamily="34" charset="0"/>
                <a:ea typeface="Calibri" pitchFamily="34" charset="-122"/>
                <a:cs typeface="Calibri" pitchFamily="34" charset="-120"/>
              </a:rPr>
              <a:t>even WHO's loosest PM2.5 target</a:t>
            </a:r>
            <a:endParaRPr lang="en-US" sz="1100" dirty="0"/>
          </a:p>
        </p:txBody>
      </p:sp>
      <p:sp>
        <p:nvSpPr>
          <p:cNvPr id="19" name="Shape 17"/>
          <p:cNvSpPr/>
          <p:nvPr/>
        </p:nvSpPr>
        <p:spPr>
          <a:xfrm>
            <a:off x="8046720" y="3840480"/>
            <a:ext cx="3611880" cy="1691640"/>
          </a:xfrm>
          <a:prstGeom prst="roundRect">
            <a:avLst>
              <a:gd name="adj" fmla="val 3784"/>
            </a:avLst>
          </a:prstGeom>
          <a:solidFill>
            <a:srgbClr val="F4F7F9"/>
          </a:solidFill>
          <a:ln/>
        </p:spPr>
      </p:sp>
      <p:sp>
        <p:nvSpPr>
          <p:cNvPr id="20" name="Text 18"/>
          <p:cNvSpPr/>
          <p:nvPr/>
        </p:nvSpPr>
        <p:spPr>
          <a:xfrm>
            <a:off x="8247888" y="4005072"/>
            <a:ext cx="3209544" cy="548640"/>
          </a:xfrm>
          <a:prstGeom prst="rect">
            <a:avLst/>
          </a:prstGeom>
          <a:noFill/>
          <a:ln/>
        </p:spPr>
        <p:txBody>
          <a:bodyPr wrap="square" lIns="0" tIns="0" rIns="0" bIns="0" rtlCol="0" anchor="ctr"/>
          <a:lstStyle/>
          <a:p>
            <a:pPr indent="0" marL="0">
              <a:buNone/>
            </a:pPr>
            <a:r>
              <a:rPr lang="en-US" sz="2400" b="1" dirty="0">
                <a:solidFill>
                  <a:srgbClr val="065A82"/>
                </a:solidFill>
                <a:latin typeface="Cambria" pitchFamily="34" charset="0"/>
                <a:ea typeface="Cambria" pitchFamily="34" charset="-122"/>
                <a:cs typeface="Cambria" pitchFamily="34" charset="-120"/>
              </a:rPr>
              <a:t>45%</a:t>
            </a:r>
            <a:endParaRPr lang="en-US" sz="2400" dirty="0"/>
          </a:p>
        </p:txBody>
      </p:sp>
      <p:sp>
        <p:nvSpPr>
          <p:cNvPr id="21" name="Text 19"/>
          <p:cNvSpPr/>
          <p:nvPr/>
        </p:nvSpPr>
        <p:spPr>
          <a:xfrm>
            <a:off x="8247888" y="4590288"/>
            <a:ext cx="3209544" cy="868680"/>
          </a:xfrm>
          <a:prstGeom prst="rect">
            <a:avLst/>
          </a:prstGeom>
          <a:noFill/>
          <a:ln/>
        </p:spPr>
        <p:txBody>
          <a:bodyPr wrap="square" lIns="0" tIns="0" rIns="0" bIns="0" rtlCol="0" anchor="ctr"/>
          <a:lstStyle/>
          <a:p>
            <a:pPr indent="0" marL="0">
              <a:lnSpc>
                <a:spcPct val="125000"/>
              </a:lnSpc>
              <a:buNone/>
            </a:pPr>
            <a:r>
              <a:rPr lang="en-US" sz="1100" dirty="0">
                <a:solidFill>
                  <a:srgbClr val="5B6B76"/>
                </a:solidFill>
                <a:latin typeface="Calibri" pitchFamily="34" charset="0"/>
                <a:ea typeface="Calibri" pitchFamily="34" charset="-122"/>
                <a:cs typeface="Calibri" pitchFamily="34" charset="-120"/>
              </a:rPr>
              <a:t>of global under-5 pneumonia deaths</a:t>
            </a:r>
            <a:endParaRPr lang="en-US" sz="1100" dirty="0"/>
          </a:p>
          <a:p>
            <a:pPr indent="0" marL="0">
              <a:lnSpc>
                <a:spcPct val="125000"/>
              </a:lnSpc>
              <a:buNone/>
            </a:pPr>
            <a:r>
              <a:rPr lang="en-US" sz="1100" dirty="0">
                <a:solidFill>
                  <a:srgbClr val="5B6B76"/>
                </a:solidFill>
                <a:latin typeface="Calibri" pitchFamily="34" charset="0"/>
                <a:ea typeface="Calibri" pitchFamily="34" charset="-122"/>
                <a:cs typeface="Calibri" pitchFamily="34" charset="-120"/>
              </a:rPr>
              <a:t>linked to household air pollution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217920" y="365760"/>
            <a:ext cx="5486400" cy="457200"/>
          </a:xfrm>
          <a:prstGeom prst="rect">
            <a:avLst/>
          </a:prstGeom>
          <a:noFill/>
          <a:ln/>
        </p:spPr>
        <p:txBody>
          <a:bodyPr wrap="square" rtlCol="0" anchor="ctr"/>
          <a:lstStyle/>
          <a:p>
            <a:pPr algn="r" indent="0" marL="0">
              <a:buNone/>
            </a:pPr>
            <a:r>
              <a:rPr lang="en-US" sz="1100" dirty="0">
                <a:solidFill>
                  <a:srgbClr val="9FB8C8"/>
                </a:solidFill>
                <a:latin typeface="Calibri" pitchFamily="34" charset="0"/>
                <a:ea typeface="Calibri" pitchFamily="34" charset="-122"/>
                <a:cs typeface="Calibri" pitchFamily="34" charset="-120"/>
              </a:rPr>
              <a:t>Air Pollution &amp; Child Respiratory Illness Map</a:t>
            </a:r>
            <a:endParaRPr lang="en-US" sz="1100" dirty="0"/>
          </a:p>
        </p:txBody>
      </p:sp>
      <p:sp>
        <p:nvSpPr>
          <p:cNvPr id="3" name="Text 1"/>
          <p:cNvSpPr/>
          <p:nvPr/>
        </p:nvSpPr>
        <p:spPr>
          <a:xfrm>
            <a:off x="822960" y="2103120"/>
            <a:ext cx="8229600" cy="2468880"/>
          </a:xfrm>
          <a:prstGeom prst="rect">
            <a:avLst/>
          </a:prstGeom>
          <a:noFill/>
          <a:ln/>
        </p:spPr>
        <p:txBody>
          <a:bodyPr wrap="square" lIns="0" tIns="0" rIns="0" bIns="0" rtlCol="0" anchor="ctr"/>
          <a:lstStyle/>
          <a:p>
            <a:pPr indent="0" marL="0">
              <a:lnSpc>
                <a:spcPct val="108000"/>
              </a:lnSpc>
              <a:buNone/>
            </a:pPr>
            <a:r>
              <a:rPr lang="en-US" sz="4600" b="1" dirty="0">
                <a:solidFill>
                  <a:srgbClr val="FFFFFF"/>
                </a:solidFill>
                <a:latin typeface="Cambria" pitchFamily="34" charset="0"/>
                <a:ea typeface="Cambria" pitchFamily="34" charset="-122"/>
                <a:cs typeface="Cambria" pitchFamily="34" charset="-120"/>
              </a:rPr>
              <a:t>Target the response</a:t>
            </a:r>
            <a:endParaRPr lang="en-US" sz="4600" dirty="0"/>
          </a:p>
          <a:p>
            <a:pPr indent="0" marL="0">
              <a:lnSpc>
                <a:spcPct val="108000"/>
              </a:lnSpc>
              <a:buNone/>
            </a:pPr>
            <a:r>
              <a:rPr lang="en-US" sz="4600" b="1" dirty="0">
                <a:solidFill>
                  <a:srgbClr val="FFFFFF"/>
                </a:solidFill>
                <a:latin typeface="Cambria" pitchFamily="34" charset="0"/>
                <a:ea typeface="Cambria" pitchFamily="34" charset="-122"/>
                <a:cs typeface="Cambria" pitchFamily="34" charset="-120"/>
              </a:rPr>
              <a:t>before the sensors</a:t>
            </a:r>
            <a:endParaRPr lang="en-US" sz="4600" dirty="0"/>
          </a:p>
          <a:p>
            <a:pPr indent="0" marL="0">
              <a:lnSpc>
                <a:spcPct val="108000"/>
              </a:lnSpc>
              <a:buNone/>
            </a:pPr>
            <a:r>
              <a:rPr lang="en-US" sz="4600" b="1" dirty="0">
                <a:solidFill>
                  <a:srgbClr val="FFFFFF"/>
                </a:solidFill>
                <a:latin typeface="Cambria" pitchFamily="34" charset="0"/>
                <a:ea typeface="Cambria" pitchFamily="34" charset="-122"/>
                <a:cs typeface="Cambria" pitchFamily="34" charset="-120"/>
              </a:rPr>
              <a:t>exist.</a:t>
            </a:r>
            <a:endParaRPr lang="en-US" sz="4600" dirty="0"/>
          </a:p>
        </p:txBody>
      </p:sp>
      <p:sp>
        <p:nvSpPr>
          <p:cNvPr id="4" name="Text 2"/>
          <p:cNvSpPr/>
          <p:nvPr/>
        </p:nvSpPr>
        <p:spPr>
          <a:xfrm>
            <a:off x="841248" y="4663440"/>
            <a:ext cx="7315200" cy="548640"/>
          </a:xfrm>
          <a:prstGeom prst="rect">
            <a:avLst/>
          </a:prstGeom>
          <a:noFill/>
          <a:ln/>
        </p:spPr>
        <p:txBody>
          <a:bodyPr wrap="square" lIns="0" tIns="0" rIns="0" bIns="0" rtlCol="0" anchor="ctr"/>
          <a:lstStyle/>
          <a:p>
            <a:pPr indent="0" marL="0">
              <a:buNone/>
            </a:pPr>
            <a:r>
              <a:rPr lang="en-US" sz="1600" dirty="0">
                <a:solidFill>
                  <a:srgbClr val="BFD9E8"/>
                </a:solidFill>
                <a:latin typeface="Calibri" pitchFamily="34" charset="0"/>
                <a:ea typeface="Calibri" pitchFamily="34" charset="-122"/>
                <a:cs typeface="Calibri" pitchFamily="34" charset="-120"/>
              </a:rPr>
              <a:t>A working prototype for Kenya, built entirely on free, real, satellite and public health data.</a:t>
            </a:r>
            <a:endParaRPr lang="en-US" sz="1600" dirty="0"/>
          </a:p>
        </p:txBody>
      </p:sp>
      <p:sp>
        <p:nvSpPr>
          <p:cNvPr id="5" name="Shape 3"/>
          <p:cNvSpPr/>
          <p:nvPr/>
        </p:nvSpPr>
        <p:spPr>
          <a:xfrm>
            <a:off x="841248" y="5989320"/>
            <a:ext cx="457200" cy="36576"/>
          </a:xfrm>
          <a:prstGeom prst="rect">
            <a:avLst/>
          </a:prstGeom>
          <a:solidFill>
            <a:srgbClr val="21C99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2026-08-14T00:13:08Z</dcterms:created>
  <dcterms:modified xsi:type="dcterms:W3CDTF">2026-08-14T00:13:08Z</dcterms:modified>
</cp:coreProperties>
</file>